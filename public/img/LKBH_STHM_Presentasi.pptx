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3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30542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rgbClr val="1F3A2D"/>
                </a:solidFill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554480"/>
            <a:ext cx="6949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 Informasi Pelayanan Bantuan Hukum Terintegrasi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406908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D9B44A"/>
                </a:solidFill>
              </a:rPr>
              <a:t>LKBH STHM — Sekolah Tinggi Hukum Militer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75488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BD0"/>
                </a:solidFill>
              </a:rPr>
              <a:t>Tugas Akhir · Fakultas Sains dan Informatika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CADBD0"/>
                </a:solidFill>
              </a:rPr>
              <a:t>Universitas Jenderal Achmad Yani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138160" y="1737360"/>
            <a:ext cx="3291840" cy="329184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</p:spPr>
      </p:sp>
      <p:pic>
        <p:nvPicPr>
          <p:cNvPr id="6" name="Image 0" descr="Lambang LKBH STH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2237014"/>
            <a:ext cx="2468880" cy="229253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F3A2D"/>
                </a:solidFill>
              </a:rPr>
              <a:t>Tim Pengembang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2606040" cy="4206240"/>
          </a:xfrm>
          <a:prstGeom prst="roundRect">
            <a:avLst>
              <a:gd name="adj" fmla="val 5263"/>
            </a:avLst>
          </a:prstGeom>
          <a:solidFill>
            <a:srgbClr val="F1F5F2"/>
          </a:solidFill>
          <a:ln w="12700">
            <a:solidFill>
              <a:srgbClr val="D9E4D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80160" y="1828800"/>
            <a:ext cx="1143000" cy="1143000"/>
          </a:xfrm>
          <a:prstGeom prst="ellipse">
            <a:avLst/>
          </a:prstGeom>
          <a:solidFill>
            <a:srgbClr val="1F3A2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280160" y="182880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15468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3A2D"/>
                </a:solidFill>
              </a:rPr>
              <a:t>Sulthan Dhiyaul Barts Hasibuan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1148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A6D17"/>
                </a:solidFill>
              </a:rPr>
              <a:t>Business Analyst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57200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B62"/>
                </a:solidFill>
              </a:rPr>
              <a:t>Menggali kebutuhan dan merumuskan alur bisnis serta SOP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364992" y="1554480"/>
            <a:ext cx="2606040" cy="4206240"/>
          </a:xfrm>
          <a:prstGeom prst="roundRect">
            <a:avLst>
              <a:gd name="adj" fmla="val 5263"/>
            </a:avLst>
          </a:prstGeom>
          <a:solidFill>
            <a:srgbClr val="F1F5F2"/>
          </a:solidFill>
          <a:ln w="12700">
            <a:solidFill>
              <a:srgbClr val="D9E4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096512" y="1828800"/>
            <a:ext cx="1143000" cy="1143000"/>
          </a:xfrm>
          <a:prstGeom prst="ellipse">
            <a:avLst/>
          </a:prstGeom>
          <a:solidFill>
            <a:srgbClr val="1F3A2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096512" y="182880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AA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3456432" y="315468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3A2D"/>
                </a:solidFill>
              </a:rPr>
              <a:t>Aditya Maulana Ardiansyah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456432" y="41148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A6D17"/>
                </a:solidFill>
              </a:rPr>
              <a:t>Backend Developer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547872" y="457200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B62"/>
                </a:solidFill>
              </a:rPr>
              <a:t>Membangun API, basis data, dan keamanan sistem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181344" y="1554480"/>
            <a:ext cx="2606040" cy="4206240"/>
          </a:xfrm>
          <a:prstGeom prst="roundRect">
            <a:avLst>
              <a:gd name="adj" fmla="val 5263"/>
            </a:avLst>
          </a:prstGeom>
          <a:solidFill>
            <a:srgbClr val="F1F5F2"/>
          </a:solidFill>
          <a:ln w="12700">
            <a:solidFill>
              <a:srgbClr val="D9E4D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12864" y="1828800"/>
            <a:ext cx="1143000" cy="1143000"/>
          </a:xfrm>
          <a:prstGeom prst="ellipse">
            <a:avLst/>
          </a:prstGeom>
          <a:solidFill>
            <a:srgbClr val="1F3A2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912864" y="182880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MR</a:t>
            </a:r>
            <a:endParaRPr lang="en-US" sz="3200" dirty="0"/>
          </a:p>
        </p:txBody>
      </p:sp>
      <p:sp>
        <p:nvSpPr>
          <p:cNvPr id="18" name="Text 16"/>
          <p:cNvSpPr txBox="1"/>
          <p:nvPr/>
        </p:nvSpPr>
        <p:spPr>
          <a:xfrm>
            <a:off x="6272784" y="315468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3A2D"/>
                </a:solidFill>
              </a:rPr>
              <a:t>Muhammad Roihan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272784" y="41148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A6D17"/>
                </a:solidFill>
              </a:rPr>
              <a:t>UI/UX Designer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364224" y="457200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B62"/>
                </a:solidFill>
              </a:rPr>
              <a:t>Merancang antarmuka dan pengalaman pengguna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997696" y="1554480"/>
            <a:ext cx="2606040" cy="4206240"/>
          </a:xfrm>
          <a:prstGeom prst="roundRect">
            <a:avLst>
              <a:gd name="adj" fmla="val 5263"/>
            </a:avLst>
          </a:prstGeom>
          <a:solidFill>
            <a:srgbClr val="F1F5F2"/>
          </a:solidFill>
          <a:ln w="12700">
            <a:solidFill>
              <a:srgbClr val="D9E4D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729216" y="1828800"/>
            <a:ext cx="1143000" cy="1143000"/>
          </a:xfrm>
          <a:prstGeom prst="ellipse">
            <a:avLst/>
          </a:prstGeom>
          <a:solidFill>
            <a:srgbClr val="1F3A2D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729216" y="182880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</a:t>
            </a:r>
            <a:endParaRPr lang="en-US" sz="3200" dirty="0"/>
          </a:p>
        </p:txBody>
      </p:sp>
      <p:sp>
        <p:nvSpPr>
          <p:cNvPr id="24" name="Text 22"/>
          <p:cNvSpPr txBox="1"/>
          <p:nvPr/>
        </p:nvSpPr>
        <p:spPr>
          <a:xfrm>
            <a:off x="9089136" y="315468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3A2D"/>
                </a:solidFill>
              </a:rPr>
              <a:t>Sayyid Ashhabussunan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9089136" y="41148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A6D17"/>
                </a:solidFill>
              </a:rPr>
              <a:t>Scrum Master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9180576" y="457200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B62"/>
                </a:solidFill>
              </a:rPr>
              <a:t>Mengatur sprint dan kolaborasi tim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F3A2D"/>
                </a:solidFill>
              </a:rPr>
              <a:t>Mengapa Digitalisasi Penting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931920" cy="4297680"/>
          </a:xfrm>
          <a:prstGeom prst="roundRect">
            <a:avLst>
              <a:gd name="adj" fmla="val 3488"/>
            </a:avLst>
          </a:prstGeom>
          <a:solidFill>
            <a:srgbClr val="1F3A2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645920"/>
            <a:ext cx="3383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0" b="1" dirty="0">
                <a:solidFill>
                  <a:srgbClr val="D9B4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56616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satu-satunya LKBH STHM di Indonesia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66344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ADBD0"/>
                </a:solidFill>
              </a:rPr>
              <a:t>Wilayah layanan mencakup seluruh Indonesia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937760" y="1463040"/>
            <a:ext cx="640080" cy="640080"/>
          </a:xfrm>
          <a:prstGeom prst="ellipse">
            <a:avLst/>
          </a:prstGeom>
          <a:solidFill>
            <a:srgbClr val="F1F5F2"/>
          </a:solidFill>
          <a:ln w="12700">
            <a:solidFill>
              <a:srgbClr val="2F5D4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37760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F5D46"/>
                </a:solidFill>
              </a:rPr>
              <a:t>01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806440" y="1463040"/>
            <a:ext cx="5806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3A2D"/>
                </a:solidFill>
              </a:rPr>
              <a:t>Jangkauan nasional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806440" y="1847088"/>
            <a:ext cx="5806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B62"/>
                </a:solidFill>
              </a:rPr>
              <a:t>Pencari keadilan dari Aceh hingga Papua dapat mengajukan bantuan tanpa datang ke Jakarta Timur.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937760" y="2542032"/>
            <a:ext cx="640080" cy="640080"/>
          </a:xfrm>
          <a:prstGeom prst="ellipse">
            <a:avLst/>
          </a:prstGeom>
          <a:solidFill>
            <a:srgbClr val="F1F5F2"/>
          </a:solidFill>
          <a:ln w="12700">
            <a:solidFill>
              <a:srgbClr val="2F5D4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937760" y="25420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F5D46"/>
                </a:solidFill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806440" y="2542032"/>
            <a:ext cx="5806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3A2D"/>
                </a:solidFill>
              </a:rPr>
              <a:t>Proses baku dan akuntabel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5806440" y="2926080"/>
            <a:ext cx="5806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B62"/>
                </a:solidFill>
              </a:rPr>
              <a:t>SOP-01 s/d SOP-06 berjalan seragam, tercatat, dan dapat diaudit oleh Dewan Pengawas.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937760" y="3621024"/>
            <a:ext cx="640080" cy="640080"/>
          </a:xfrm>
          <a:prstGeom prst="ellipse">
            <a:avLst/>
          </a:prstGeom>
          <a:solidFill>
            <a:srgbClr val="F1F5F2"/>
          </a:solidFill>
          <a:ln w="12700">
            <a:solidFill>
              <a:srgbClr val="2F5D4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937760" y="362102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F5D46"/>
                </a:solidFill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806440" y="3621024"/>
            <a:ext cx="5806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3A2D"/>
                </a:solidFill>
              </a:rPr>
              <a:t>Arsip aman dan rahasia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5806440" y="4005072"/>
            <a:ext cx="5806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B62"/>
                </a:solidFill>
              </a:rPr>
              <a:t>Dossier perkara tersimpan digital dengan akses berbasis peran, menggantikan penyimpanan yang rawan bocor.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937760" y="4700016"/>
            <a:ext cx="640080" cy="640080"/>
          </a:xfrm>
          <a:prstGeom prst="ellipse">
            <a:avLst/>
          </a:prstGeom>
          <a:solidFill>
            <a:srgbClr val="F1F5F2"/>
          </a:solidFill>
          <a:ln w="12700">
            <a:solidFill>
              <a:srgbClr val="2F5D4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937760" y="470001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F5D46"/>
                </a:solidFill>
              </a:rPr>
              <a:t>04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5806440" y="4700016"/>
            <a:ext cx="5806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3A2D"/>
                </a:solidFill>
              </a:rPr>
              <a:t>Transparan dan terukur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5806440" y="5084064"/>
            <a:ext cx="5806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B62"/>
                </a:solidFill>
              </a:rPr>
              <a:t>Klien memantau status kasus; pengurus dan LPPM mendapat laporan periodik dan data riset anonim.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0350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B6B62"/>
                </a:solidFill>
              </a:rPr>
              <a:t>Dasar: ART Pasal 7 LKBH STHM membolehkan pendaftaran melalui kanal elektronik resmi, dan ART Pasal 2 mewajibkan pengarsipan dossier secara tertib dan digital.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F3A2D"/>
                </a:solidFill>
              </a:rPr>
              <a:t>Tampilan: Beranda dan Login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21208" y="1344168"/>
            <a:ext cx="2729494" cy="4352544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CE"/>
            </a:solidFill>
            <a:prstDash val="solid"/>
          </a:ln>
        </p:spPr>
      </p:sp>
      <p:pic>
        <p:nvPicPr>
          <p:cNvPr id="4" name="Image 0" descr="Beranda publi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2674630" cy="42976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779008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F3A2D"/>
                </a:solidFill>
              </a:rPr>
              <a:t>Beranda publik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5B6B62"/>
                </a:solidFill>
              </a:rPr>
              <a:t>Layanan LKBH dan ajakan mengajukan bantuan hukum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675888" y="1344168"/>
            <a:ext cx="3712464" cy="2359471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CE"/>
            </a:solidFill>
            <a:prstDash val="solid"/>
          </a:ln>
        </p:spPr>
      </p:sp>
      <p:pic>
        <p:nvPicPr>
          <p:cNvPr id="7" name="Image 1" descr="Registrasi akun klie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3320" y="1371600"/>
            <a:ext cx="3657600" cy="2304607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3703320" y="3785935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F3A2D"/>
                </a:solidFill>
              </a:rPr>
              <a:t>Registrasi akun klien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5B6B62"/>
                </a:solidFill>
              </a:rPr>
              <a:t>Daftar dengan email atau akun Google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7699248" y="1344168"/>
            <a:ext cx="3712464" cy="2810275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CE"/>
            </a:solidFill>
            <a:prstDash val="solid"/>
          </a:ln>
        </p:spPr>
      </p:sp>
      <p:pic>
        <p:nvPicPr>
          <p:cNvPr id="10" name="Image 2" descr="Masuk ke portal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1371600"/>
            <a:ext cx="3657600" cy="2755411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7726680" y="4236739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F3A2D"/>
                </a:solidFill>
              </a:rPr>
              <a:t>Masuk ke portal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5B6B62"/>
                </a:solidFill>
              </a:rPr>
              <a:t>Satu pintu masuk untuk semua peran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F3A2D"/>
                </a:solidFill>
              </a:rPr>
              <a:t>Tampilan: Klien dan Kepala LKBH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21208" y="1730030"/>
            <a:ext cx="5449824" cy="3260779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CE"/>
            </a:solidFill>
            <a:prstDash val="solid"/>
          </a:ln>
        </p:spPr>
      </p:sp>
      <p:pic>
        <p:nvPicPr>
          <p:cNvPr id="4" name="Image 0" descr="Klien Pemoh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57462"/>
            <a:ext cx="5394960" cy="320591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34924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F3A2D"/>
                </a:solidFill>
              </a:rPr>
              <a:t>Klien Pemohon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5B6B62"/>
                </a:solidFill>
              </a:rPr>
              <a:t>Mengajukan layanan baru dan memantau status kasus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217920" y="1730030"/>
            <a:ext cx="5449824" cy="3260779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CE"/>
            </a:solidFill>
            <a:prstDash val="solid"/>
          </a:ln>
        </p:spPr>
      </p:sp>
      <p:pic>
        <p:nvPicPr>
          <p:cNvPr id="7" name="Image 1" descr="Kepala LKBH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5352" y="1757462"/>
            <a:ext cx="5394960" cy="3205915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245352" y="534924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F3A2D"/>
                </a:solidFill>
              </a:rPr>
              <a:t>Kepala LKBH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5B6B62"/>
                </a:solidFill>
              </a:rPr>
              <a:t>Ringkasan perkara, verifikasi, pengguna, keuangan, dan arsip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F3A2D"/>
                </a:solidFill>
              </a:rPr>
              <a:t>Tampilan: Sekretariat dan Bendahara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21208" y="1495820"/>
            <a:ext cx="5449824" cy="37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CE"/>
            </a:solidFill>
            <a:prstDash val="solid"/>
          </a:ln>
        </p:spPr>
      </p:sp>
      <p:pic>
        <p:nvPicPr>
          <p:cNvPr id="4" name="Image 0" descr="Sekretaria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23252"/>
            <a:ext cx="5394960" cy="367433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34924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F3A2D"/>
                </a:solidFill>
              </a:rPr>
              <a:t>Sekretariat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5B6B62"/>
                </a:solidFill>
              </a:rPr>
              <a:t>SOP-01: Buku Induk Registrasi, gelar kasus (BAGK), arsip dossier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217920" y="1455559"/>
            <a:ext cx="5449824" cy="3809722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CE"/>
            </a:solidFill>
            <a:prstDash val="solid"/>
          </a:ln>
        </p:spPr>
      </p:sp>
      <p:pic>
        <p:nvPicPr>
          <p:cNvPr id="7" name="Image 1" descr="Bendahar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5352" y="1482991"/>
            <a:ext cx="5394960" cy="375485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245352" y="534924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F3A2D"/>
                </a:solidFill>
              </a:rPr>
              <a:t>Bendahara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5B6B62"/>
                </a:solidFill>
              </a:rPr>
              <a:t>Lampiran F: buku kas dan ikhtisar arus keuangan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F3A2D"/>
                </a:solidFill>
              </a:rPr>
              <a:t>Tampilan: Advokat dan Paralegal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21208" y="1495820"/>
            <a:ext cx="5449824" cy="37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CE"/>
            </a:solidFill>
            <a:prstDash val="solid"/>
          </a:ln>
        </p:spPr>
      </p:sp>
      <p:pic>
        <p:nvPicPr>
          <p:cNvPr id="4" name="Image 0" descr="Advokat / Konsulta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23252"/>
            <a:ext cx="5394960" cy="367433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34924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F3A2D"/>
                </a:solidFill>
              </a:rPr>
              <a:t>Advokat / Konsultan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5B6B62"/>
                </a:solidFill>
              </a:rPr>
              <a:t>Menerima dan menangani kasus yang ditugaskan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217920" y="1495820"/>
            <a:ext cx="5449824" cy="37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CE"/>
            </a:solidFill>
            <a:prstDash val="solid"/>
          </a:ln>
        </p:spPr>
      </p:sp>
      <p:pic>
        <p:nvPicPr>
          <p:cNvPr id="7" name="Image 1" descr="Mahasiswa Paralega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5352" y="1523252"/>
            <a:ext cx="5394960" cy="367433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245352" y="534924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F3A2D"/>
                </a:solidFill>
              </a:rPr>
              <a:t>Mahasiswa Paralegal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5B6B62"/>
                </a:solidFill>
              </a:rPr>
              <a:t>Asistensi perkara dan observasi sidang (klinik hukum)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F3A2D"/>
                </a:solidFill>
              </a:rPr>
              <a:t>Tampilan: Dewan Pengawas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21208" y="1435608"/>
            <a:ext cx="5712513" cy="4352544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CE"/>
            </a:solidFill>
            <a:prstDash val="solid"/>
          </a:ln>
        </p:spPr>
      </p:sp>
      <p:pic>
        <p:nvPicPr>
          <p:cNvPr id="4" name="Image 0" descr="/mnt/user-data/uploads/role_pengaw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63040"/>
            <a:ext cx="5657649" cy="42976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870448"/>
            <a:ext cx="565764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6858000" y="15544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3A2D"/>
                </a:solidFill>
              </a:rPr>
              <a:t>Portal Pengawasan dan Audit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6858000" y="2194560"/>
            <a:ext cx="4754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F2A24"/>
                </a:solidFill>
              </a:rPr>
              <a:t>Audit kepatuhan SOP-01 s/d SOP-06 per berkas perkara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F2A24"/>
                </a:solidFill>
              </a:rPr>
              <a:t>Jaminan layanan cuma-cuma (zero fee) bagi klien kurang mampu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F2A24"/>
                </a:solidFill>
              </a:rPr>
              <a:t>Sinkronisasi data pengabdian masyarakat dengan LPPM STHM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F3A2D"/>
                </a:solidFill>
              </a:rPr>
              <a:t>Teknologi yang Digunakan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566160" cy="2194560"/>
          </a:xfrm>
          <a:prstGeom prst="roundRect">
            <a:avLst>
              <a:gd name="adj" fmla="val 5000"/>
            </a:avLst>
          </a:prstGeom>
          <a:solidFill>
            <a:srgbClr val="F1F5F2"/>
          </a:solidFill>
          <a:ln w="12700">
            <a:solidFill>
              <a:srgbClr val="D9E4D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459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A6D17"/>
                </a:solidFill>
              </a:rPr>
              <a:t>Frontend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0312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1F3A2D"/>
                </a:solidFill>
              </a:rPr>
              <a:t>React.js</a:t>
            </a:r>
            <a:endParaRPr lang="en-US" sz="2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1F3A2D"/>
                </a:solidFill>
              </a:rPr>
              <a:t>Next.js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297680" y="1463040"/>
            <a:ext cx="3566160" cy="2194560"/>
          </a:xfrm>
          <a:prstGeom prst="roundRect">
            <a:avLst>
              <a:gd name="adj" fmla="val 5000"/>
            </a:avLst>
          </a:prstGeom>
          <a:solidFill>
            <a:srgbClr val="F1F5F2"/>
          </a:solidFill>
          <a:ln w="12700">
            <a:solidFill>
              <a:srgbClr val="D9E4D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0" y="16459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A6D17"/>
                </a:solidFill>
              </a:rPr>
              <a:t>Backend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572000" y="210312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1F3A2D"/>
                </a:solidFill>
              </a:rPr>
              <a:t>Node.js</a:t>
            </a:r>
            <a:endParaRPr lang="en-US" sz="2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1F3A2D"/>
                </a:solidFill>
              </a:rPr>
              <a:t>REST API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8046720" y="1463040"/>
            <a:ext cx="3566160" cy="2194560"/>
          </a:xfrm>
          <a:prstGeom prst="roundRect">
            <a:avLst>
              <a:gd name="adj" fmla="val 5000"/>
            </a:avLst>
          </a:prstGeom>
          <a:solidFill>
            <a:srgbClr val="F1F5F2"/>
          </a:solidFill>
          <a:ln w="12700">
            <a:solidFill>
              <a:srgbClr val="D9E4D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21040" y="16459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A6D17"/>
                </a:solidFill>
              </a:rPr>
              <a:t>Mobile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321040" y="210312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1F3A2D"/>
                </a:solidFill>
              </a:rPr>
              <a:t>Kotlin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48640" y="3840480"/>
            <a:ext cx="3566160" cy="2194560"/>
          </a:xfrm>
          <a:prstGeom prst="roundRect">
            <a:avLst>
              <a:gd name="adj" fmla="val 5000"/>
            </a:avLst>
          </a:prstGeom>
          <a:solidFill>
            <a:srgbClr val="F1F5F2"/>
          </a:solidFill>
          <a:ln w="12700">
            <a:solidFill>
              <a:srgbClr val="D9E4D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40233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A6D17"/>
                </a:solidFill>
              </a:rPr>
              <a:t>Database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48056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1F3A2D"/>
                </a:solidFill>
              </a:rPr>
              <a:t>PostgreSQL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297680" y="3840480"/>
            <a:ext cx="3566160" cy="2194560"/>
          </a:xfrm>
          <a:prstGeom prst="roundRect">
            <a:avLst>
              <a:gd name="adj" fmla="val 5000"/>
            </a:avLst>
          </a:prstGeom>
          <a:solidFill>
            <a:srgbClr val="F1F5F2"/>
          </a:solidFill>
          <a:ln w="12700">
            <a:solidFill>
              <a:srgbClr val="D9E4D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0" y="40233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A6D17"/>
                </a:solidFill>
              </a:rPr>
              <a:t>Infrastruktur &amp; Keamanan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0" y="448056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1F3A2D"/>
                </a:solidFill>
              </a:rPr>
              <a:t>Docker</a:t>
            </a:r>
            <a:endParaRPr lang="en-US" sz="2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1F3A2D"/>
                </a:solidFill>
              </a:rPr>
              <a:t>NGINX</a:t>
            </a:r>
            <a:endParaRPr lang="en-US" sz="2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1F3A2D"/>
                </a:solidFill>
              </a:rPr>
              <a:t>Cloudflare</a:t>
            </a:r>
            <a:endParaRPr lang="en-US" sz="2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1F3A2D"/>
                </a:solidFill>
              </a:rPr>
              <a:t>MFA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8046720" y="3840480"/>
            <a:ext cx="3566160" cy="2194560"/>
          </a:xfrm>
          <a:prstGeom prst="roundRect">
            <a:avLst>
              <a:gd name="adj" fmla="val 5000"/>
            </a:avLst>
          </a:prstGeom>
          <a:solidFill>
            <a:srgbClr val="F1F5F2"/>
          </a:solidFill>
          <a:ln w="12700">
            <a:solidFill>
              <a:srgbClr val="D9E4D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321040" y="40233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A6D17"/>
                </a:solidFill>
              </a:rPr>
              <a:t>Pengembangan &amp; Kolaborasi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321040" y="448056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1F3A2D"/>
                </a:solidFill>
              </a:rPr>
              <a:t>Laragon</a:t>
            </a:r>
            <a:endParaRPr lang="en-US" sz="2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1F3A2D"/>
                </a:solidFill>
              </a:rPr>
              <a:t>JIRA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F3A2D"/>
                </a:solidFill>
              </a:rPr>
              <a:t>Use Case Diagram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2834640" y="1234440"/>
            <a:ext cx="6492240" cy="5166360"/>
          </a:xfrm>
          <a:prstGeom prst="rect">
            <a:avLst/>
          </a:prstGeom>
          <a:solidFill>
            <a:srgbClr val="F8FAF8"/>
          </a:solidFill>
          <a:ln w="19050">
            <a:solidFill>
              <a:srgbClr val="2F5D4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834640" y="1298448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F5D46"/>
                </a:solidFill>
              </a:rPr>
              <a:t>Sistem Informasi LKBH STHM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 flipV="1">
            <a:off x="1600200" y="2020824"/>
            <a:ext cx="1417320" cy="155448"/>
          </a:xfrm>
          <a:prstGeom prst="line">
            <a:avLst/>
          </a:prstGeom>
          <a:noFill/>
          <a:ln w="12700">
            <a:solidFill>
              <a:srgbClr val="6B7A7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00200" y="2176272"/>
            <a:ext cx="1417320" cy="594360"/>
          </a:xfrm>
          <a:prstGeom prst="line">
            <a:avLst/>
          </a:prstGeom>
          <a:noFill/>
          <a:ln w="12700">
            <a:solidFill>
              <a:srgbClr val="6B7A7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00200" y="2176272"/>
            <a:ext cx="1417320" cy="1344168"/>
          </a:xfrm>
          <a:prstGeom prst="line">
            <a:avLst/>
          </a:prstGeom>
          <a:noFill/>
          <a:ln w="12700">
            <a:solidFill>
              <a:srgbClr val="6B7A7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00200" y="3730752"/>
            <a:ext cx="1417320" cy="539496"/>
          </a:xfrm>
          <a:prstGeom prst="line">
            <a:avLst/>
          </a:prstGeom>
          <a:noFill/>
          <a:ln w="12700">
            <a:solidFill>
              <a:srgbClr val="6B7A7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00200" y="3730752"/>
            <a:ext cx="1417320" cy="2039112"/>
          </a:xfrm>
          <a:prstGeom prst="line">
            <a:avLst/>
          </a:prstGeom>
          <a:noFill/>
          <a:ln w="12700">
            <a:solidFill>
              <a:srgbClr val="6B7A7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1600200" y="4270248"/>
            <a:ext cx="1417320" cy="923544"/>
          </a:xfrm>
          <a:prstGeom prst="line">
            <a:avLst/>
          </a:prstGeom>
          <a:noFill/>
          <a:ln w="12700">
            <a:solidFill>
              <a:srgbClr val="6B7A7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1600200" y="5020056"/>
            <a:ext cx="1417320" cy="173736"/>
          </a:xfrm>
          <a:prstGeom prst="line">
            <a:avLst/>
          </a:prstGeom>
          <a:noFill/>
          <a:ln w="12700">
            <a:solidFill>
              <a:srgbClr val="6B7A7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9144000" y="1810512"/>
            <a:ext cx="1417320" cy="210312"/>
          </a:xfrm>
          <a:prstGeom prst="line">
            <a:avLst/>
          </a:prstGeom>
          <a:noFill/>
          <a:ln w="12700">
            <a:solidFill>
              <a:srgbClr val="6B7A7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9144000" y="1810512"/>
            <a:ext cx="1417320" cy="960120"/>
          </a:xfrm>
          <a:prstGeom prst="line">
            <a:avLst/>
          </a:prstGeom>
          <a:noFill/>
          <a:ln w="12700">
            <a:solidFill>
              <a:srgbClr val="6B7A7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V="1">
            <a:off x="9144000" y="1810512"/>
            <a:ext cx="1417320" cy="1709928"/>
          </a:xfrm>
          <a:prstGeom prst="line">
            <a:avLst/>
          </a:prstGeom>
          <a:noFill/>
          <a:ln w="12700">
            <a:solidFill>
              <a:srgbClr val="6B7A7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9144000" y="3182112"/>
            <a:ext cx="1417320" cy="1088136"/>
          </a:xfrm>
          <a:prstGeom prst="line">
            <a:avLst/>
          </a:prstGeom>
          <a:noFill/>
          <a:ln w="12700">
            <a:solidFill>
              <a:srgbClr val="6B7A7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V="1">
            <a:off x="9144000" y="4462272"/>
            <a:ext cx="1417320" cy="557784"/>
          </a:xfrm>
          <a:prstGeom prst="line">
            <a:avLst/>
          </a:prstGeom>
          <a:noFill/>
          <a:ln w="12700">
            <a:solidFill>
              <a:srgbClr val="6B7A7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V="1">
            <a:off x="9144000" y="5650992"/>
            <a:ext cx="1417320" cy="118872"/>
          </a:xfrm>
          <a:prstGeom prst="line">
            <a:avLst/>
          </a:prstGeom>
          <a:noFill/>
          <a:ln w="12700">
            <a:solidFill>
              <a:srgbClr val="6B7A7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017520" y="1737360"/>
            <a:ext cx="2926080" cy="566928"/>
          </a:xfrm>
          <a:prstGeom prst="ellipse">
            <a:avLst/>
          </a:prstGeom>
          <a:solidFill>
            <a:srgbClr val="E4EEE7"/>
          </a:solidFill>
          <a:ln w="12700">
            <a:solidFill>
              <a:srgbClr val="2F5D4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017520" y="1737360"/>
            <a:ext cx="292608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A24"/>
                </a:solidFill>
              </a:rPr>
              <a:t>Registrasi &amp; Login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017520" y="2487168"/>
            <a:ext cx="2926080" cy="566928"/>
          </a:xfrm>
          <a:prstGeom prst="ellipse">
            <a:avLst/>
          </a:prstGeom>
          <a:solidFill>
            <a:srgbClr val="E4EEE7"/>
          </a:solidFill>
          <a:ln w="12700">
            <a:solidFill>
              <a:srgbClr val="2F5D4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017520" y="2487168"/>
            <a:ext cx="292608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A24"/>
                </a:solidFill>
              </a:rPr>
              <a:t>Ajukan Bantuan Hukum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017520" y="3236976"/>
            <a:ext cx="2926080" cy="566928"/>
          </a:xfrm>
          <a:prstGeom prst="ellipse">
            <a:avLst/>
          </a:prstGeom>
          <a:solidFill>
            <a:srgbClr val="E4EEE7"/>
          </a:solidFill>
          <a:ln w="12700">
            <a:solidFill>
              <a:srgbClr val="2F5D4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017520" y="3236976"/>
            <a:ext cx="292608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A24"/>
                </a:solidFill>
              </a:rPr>
              <a:t>Pantau Status Kasus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017520" y="3986784"/>
            <a:ext cx="2926080" cy="566928"/>
          </a:xfrm>
          <a:prstGeom prst="ellipse">
            <a:avLst/>
          </a:prstGeom>
          <a:solidFill>
            <a:srgbClr val="E4EEE7"/>
          </a:solidFill>
          <a:ln w="12700">
            <a:solidFill>
              <a:srgbClr val="2F5D4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017520" y="3986784"/>
            <a:ext cx="292608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A24"/>
                </a:solidFill>
              </a:rPr>
              <a:t>Verifikasi Berkas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017520" y="4736592"/>
            <a:ext cx="2926080" cy="566928"/>
          </a:xfrm>
          <a:prstGeom prst="ellipse">
            <a:avLst/>
          </a:prstGeom>
          <a:solidFill>
            <a:srgbClr val="E4EEE7"/>
          </a:solidFill>
          <a:ln w="12700">
            <a:solidFill>
              <a:srgbClr val="2F5D4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017520" y="4736592"/>
            <a:ext cx="292608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A24"/>
                </a:solidFill>
              </a:rPr>
              <a:t>Asistensi &amp; Observasi Sidang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017520" y="5486400"/>
            <a:ext cx="2926080" cy="566928"/>
          </a:xfrm>
          <a:prstGeom prst="ellipse">
            <a:avLst/>
          </a:prstGeom>
          <a:solidFill>
            <a:srgbClr val="E4EEE7"/>
          </a:solidFill>
          <a:ln w="12700">
            <a:solidFill>
              <a:srgbClr val="2F5D4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017520" y="5486400"/>
            <a:ext cx="292608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A24"/>
                </a:solidFill>
              </a:rPr>
              <a:t>Arsip Dossier &amp; Data LPPM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217920" y="1737360"/>
            <a:ext cx="2926080" cy="566928"/>
          </a:xfrm>
          <a:prstGeom prst="ellipse">
            <a:avLst/>
          </a:prstGeom>
          <a:solidFill>
            <a:srgbClr val="E4EEE7"/>
          </a:solidFill>
          <a:ln w="12700">
            <a:solidFill>
              <a:srgbClr val="2F5D4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217920" y="1737360"/>
            <a:ext cx="292608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A24"/>
                </a:solidFill>
              </a:rPr>
              <a:t>Gelar Kasus (BAGK)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217920" y="2487168"/>
            <a:ext cx="2926080" cy="566928"/>
          </a:xfrm>
          <a:prstGeom prst="ellipse">
            <a:avLst/>
          </a:prstGeom>
          <a:solidFill>
            <a:srgbClr val="E4EEE7"/>
          </a:solidFill>
          <a:ln w="12700">
            <a:solidFill>
              <a:srgbClr val="2F5D4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217920" y="2487168"/>
            <a:ext cx="292608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A24"/>
                </a:solidFill>
              </a:rPr>
              <a:t>Penugasan &amp; Surat Kuasa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217920" y="3236976"/>
            <a:ext cx="2926080" cy="566928"/>
          </a:xfrm>
          <a:prstGeom prst="ellipse">
            <a:avLst/>
          </a:prstGeom>
          <a:solidFill>
            <a:srgbClr val="E4EEE7"/>
          </a:solidFill>
          <a:ln w="12700">
            <a:solidFill>
              <a:srgbClr val="2F5D46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217920" y="3236976"/>
            <a:ext cx="292608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A24"/>
                </a:solidFill>
              </a:rPr>
              <a:t>Kelola Pengguna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217920" y="3986784"/>
            <a:ext cx="2926080" cy="566928"/>
          </a:xfrm>
          <a:prstGeom prst="ellipse">
            <a:avLst/>
          </a:prstGeom>
          <a:solidFill>
            <a:srgbClr val="E4EEE7"/>
          </a:solidFill>
          <a:ln w="12700">
            <a:solidFill>
              <a:srgbClr val="2F5D46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217920" y="3986784"/>
            <a:ext cx="292608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A24"/>
                </a:solidFill>
              </a:rPr>
              <a:t>Tangani Kasus &amp; Legal Opinion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217920" y="4736592"/>
            <a:ext cx="2926080" cy="566928"/>
          </a:xfrm>
          <a:prstGeom prst="ellipse">
            <a:avLst/>
          </a:prstGeom>
          <a:solidFill>
            <a:srgbClr val="E4EEE7"/>
          </a:solidFill>
          <a:ln w="12700">
            <a:solidFill>
              <a:srgbClr val="2F5D46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217920" y="4736592"/>
            <a:ext cx="292608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A24"/>
                </a:solidFill>
              </a:rPr>
              <a:t>Kelola Keuangan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217920" y="5486400"/>
            <a:ext cx="2926080" cy="566928"/>
          </a:xfrm>
          <a:prstGeom prst="ellipse">
            <a:avLst/>
          </a:prstGeom>
          <a:solidFill>
            <a:srgbClr val="E4EEE7"/>
          </a:solidFill>
          <a:ln w="12700">
            <a:solidFill>
              <a:srgbClr val="2F5D46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217920" y="5486400"/>
            <a:ext cx="292608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A24"/>
                </a:solidFill>
              </a:rPr>
              <a:t>Audit Kepatuhan SOP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1252728" y="1828800"/>
            <a:ext cx="237744" cy="23774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A2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371600" y="2066544"/>
            <a:ext cx="0" cy="329184"/>
          </a:xfrm>
          <a:prstGeom prst="line">
            <a:avLst/>
          </a:prstGeom>
          <a:noFill/>
          <a:ln w="19050">
            <a:solidFill>
              <a:srgbClr val="1F3A2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143000" y="2176272"/>
            <a:ext cx="457200" cy="0"/>
          </a:xfrm>
          <a:prstGeom prst="line">
            <a:avLst/>
          </a:prstGeom>
          <a:noFill/>
          <a:ln w="19050">
            <a:solidFill>
              <a:srgbClr val="1F3A2D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 flipV="1">
            <a:off x="1188720" y="2395728"/>
            <a:ext cx="182880" cy="210312"/>
          </a:xfrm>
          <a:prstGeom prst="line">
            <a:avLst/>
          </a:prstGeom>
          <a:noFill/>
          <a:ln w="19050">
            <a:solidFill>
              <a:srgbClr val="1F3A2D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371600" y="2395728"/>
            <a:ext cx="182880" cy="210312"/>
          </a:xfrm>
          <a:prstGeom prst="line">
            <a:avLst/>
          </a:prstGeom>
          <a:noFill/>
          <a:ln w="19050">
            <a:solidFill>
              <a:srgbClr val="1F3A2D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457200" y="263347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3A2D"/>
                </a:solidFill>
              </a:rPr>
              <a:t>Klien Pemohon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1252728" y="3383280"/>
            <a:ext cx="237744" cy="23774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A2D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371600" y="3621024"/>
            <a:ext cx="0" cy="329184"/>
          </a:xfrm>
          <a:prstGeom prst="line">
            <a:avLst/>
          </a:prstGeom>
          <a:noFill/>
          <a:ln w="19050">
            <a:solidFill>
              <a:srgbClr val="1F3A2D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143000" y="3730752"/>
            <a:ext cx="457200" cy="0"/>
          </a:xfrm>
          <a:prstGeom prst="line">
            <a:avLst/>
          </a:prstGeom>
          <a:noFill/>
          <a:ln w="19050">
            <a:solidFill>
              <a:srgbClr val="1F3A2D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 flipV="1">
            <a:off x="1188720" y="3950208"/>
            <a:ext cx="182880" cy="210312"/>
          </a:xfrm>
          <a:prstGeom prst="line">
            <a:avLst/>
          </a:prstGeom>
          <a:noFill/>
          <a:ln w="19050">
            <a:solidFill>
              <a:srgbClr val="1F3A2D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371600" y="3950208"/>
            <a:ext cx="182880" cy="210312"/>
          </a:xfrm>
          <a:prstGeom prst="line">
            <a:avLst/>
          </a:prstGeom>
          <a:noFill/>
          <a:ln w="19050">
            <a:solidFill>
              <a:srgbClr val="1F3A2D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457200" y="418795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3A2D"/>
                </a:solidFill>
              </a:rPr>
              <a:t>Sekretariat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1252728" y="4846320"/>
            <a:ext cx="237744" cy="23774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A2D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371600" y="5084064"/>
            <a:ext cx="0" cy="329184"/>
          </a:xfrm>
          <a:prstGeom prst="line">
            <a:avLst/>
          </a:prstGeom>
          <a:noFill/>
          <a:ln w="19050">
            <a:solidFill>
              <a:srgbClr val="1F3A2D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143000" y="5193792"/>
            <a:ext cx="457200" cy="0"/>
          </a:xfrm>
          <a:prstGeom prst="line">
            <a:avLst/>
          </a:prstGeom>
          <a:noFill/>
          <a:ln w="19050">
            <a:solidFill>
              <a:srgbClr val="1F3A2D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 flipV="1">
            <a:off x="1188720" y="5413248"/>
            <a:ext cx="182880" cy="210312"/>
          </a:xfrm>
          <a:prstGeom prst="line">
            <a:avLst/>
          </a:prstGeom>
          <a:noFill/>
          <a:ln w="19050">
            <a:solidFill>
              <a:srgbClr val="1F3A2D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371600" y="5413248"/>
            <a:ext cx="182880" cy="210312"/>
          </a:xfrm>
          <a:prstGeom prst="line">
            <a:avLst/>
          </a:prstGeom>
          <a:noFill/>
          <a:ln w="19050">
            <a:solidFill>
              <a:srgbClr val="1F3A2D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457200" y="56509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3A2D"/>
                </a:solidFill>
              </a:rPr>
              <a:t>Mahasiswa Paralegal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10671048" y="1463040"/>
            <a:ext cx="237744" cy="23774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A2D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0789920" y="1700784"/>
            <a:ext cx="0" cy="329184"/>
          </a:xfrm>
          <a:prstGeom prst="line">
            <a:avLst/>
          </a:prstGeom>
          <a:noFill/>
          <a:ln w="19050">
            <a:solidFill>
              <a:srgbClr val="1F3A2D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0561320" y="1810512"/>
            <a:ext cx="457200" cy="0"/>
          </a:xfrm>
          <a:prstGeom prst="line">
            <a:avLst/>
          </a:prstGeom>
          <a:noFill/>
          <a:ln w="19050">
            <a:solidFill>
              <a:srgbClr val="1F3A2D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 flipV="1">
            <a:off x="10607040" y="2029968"/>
            <a:ext cx="182880" cy="210312"/>
          </a:xfrm>
          <a:prstGeom prst="line">
            <a:avLst/>
          </a:prstGeom>
          <a:noFill/>
          <a:ln w="19050">
            <a:solidFill>
              <a:srgbClr val="1F3A2D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0789920" y="2029968"/>
            <a:ext cx="182880" cy="210312"/>
          </a:xfrm>
          <a:prstGeom prst="line">
            <a:avLst/>
          </a:prstGeom>
          <a:noFill/>
          <a:ln w="19050">
            <a:solidFill>
              <a:srgbClr val="1F3A2D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9875520" y="226771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3A2D"/>
                </a:solidFill>
              </a:rPr>
              <a:t>Kepala LKBH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10671048" y="2834640"/>
            <a:ext cx="237744" cy="23774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A2D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0789920" y="3072384"/>
            <a:ext cx="0" cy="329184"/>
          </a:xfrm>
          <a:prstGeom prst="line">
            <a:avLst/>
          </a:prstGeom>
          <a:noFill/>
          <a:ln w="19050">
            <a:solidFill>
              <a:srgbClr val="1F3A2D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0561320" y="3182112"/>
            <a:ext cx="457200" cy="0"/>
          </a:xfrm>
          <a:prstGeom prst="line">
            <a:avLst/>
          </a:prstGeom>
          <a:noFill/>
          <a:ln w="19050">
            <a:solidFill>
              <a:srgbClr val="1F3A2D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 flipV="1">
            <a:off x="10607040" y="3401568"/>
            <a:ext cx="182880" cy="210312"/>
          </a:xfrm>
          <a:prstGeom prst="line">
            <a:avLst/>
          </a:prstGeom>
          <a:noFill/>
          <a:ln w="19050">
            <a:solidFill>
              <a:srgbClr val="1F3A2D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0789920" y="3401568"/>
            <a:ext cx="182880" cy="210312"/>
          </a:xfrm>
          <a:prstGeom prst="line">
            <a:avLst/>
          </a:prstGeom>
          <a:noFill/>
          <a:ln w="19050">
            <a:solidFill>
              <a:srgbClr val="1F3A2D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9875520" y="363931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3A2D"/>
                </a:solidFill>
              </a:rPr>
              <a:t>Advokat / Konsultan</a:t>
            </a:r>
            <a:endParaRPr lang="en-US" sz="1200" dirty="0"/>
          </a:p>
        </p:txBody>
      </p:sp>
      <p:sp>
        <p:nvSpPr>
          <p:cNvPr id="72" name="Shape 70"/>
          <p:cNvSpPr/>
          <p:nvPr/>
        </p:nvSpPr>
        <p:spPr>
          <a:xfrm>
            <a:off x="10671048" y="4114800"/>
            <a:ext cx="237744" cy="23774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A2D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0789920" y="4352544"/>
            <a:ext cx="0" cy="329184"/>
          </a:xfrm>
          <a:prstGeom prst="line">
            <a:avLst/>
          </a:prstGeom>
          <a:noFill/>
          <a:ln w="19050">
            <a:solidFill>
              <a:srgbClr val="1F3A2D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0561320" y="4462272"/>
            <a:ext cx="457200" cy="0"/>
          </a:xfrm>
          <a:prstGeom prst="line">
            <a:avLst/>
          </a:prstGeom>
          <a:noFill/>
          <a:ln w="19050">
            <a:solidFill>
              <a:srgbClr val="1F3A2D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 flipV="1">
            <a:off x="10607040" y="4681728"/>
            <a:ext cx="182880" cy="210312"/>
          </a:xfrm>
          <a:prstGeom prst="line">
            <a:avLst/>
          </a:prstGeom>
          <a:noFill/>
          <a:ln w="19050">
            <a:solidFill>
              <a:srgbClr val="1F3A2D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0789920" y="4681728"/>
            <a:ext cx="182880" cy="210312"/>
          </a:xfrm>
          <a:prstGeom prst="line">
            <a:avLst/>
          </a:prstGeom>
          <a:noFill/>
          <a:ln w="19050">
            <a:solidFill>
              <a:srgbClr val="1F3A2D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9875520" y="491947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3A2D"/>
                </a:solidFill>
              </a:rPr>
              <a:t>Bendahara</a:t>
            </a:r>
            <a:endParaRPr lang="en-US" sz="1200" dirty="0"/>
          </a:p>
        </p:txBody>
      </p:sp>
      <p:sp>
        <p:nvSpPr>
          <p:cNvPr id="78" name="Shape 76"/>
          <p:cNvSpPr/>
          <p:nvPr/>
        </p:nvSpPr>
        <p:spPr>
          <a:xfrm>
            <a:off x="10671048" y="5303520"/>
            <a:ext cx="237744" cy="23774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A2D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0789920" y="5541264"/>
            <a:ext cx="0" cy="329184"/>
          </a:xfrm>
          <a:prstGeom prst="line">
            <a:avLst/>
          </a:prstGeom>
          <a:noFill/>
          <a:ln w="19050">
            <a:solidFill>
              <a:srgbClr val="1F3A2D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0561320" y="5650992"/>
            <a:ext cx="457200" cy="0"/>
          </a:xfrm>
          <a:prstGeom prst="line">
            <a:avLst/>
          </a:prstGeom>
          <a:noFill/>
          <a:ln w="19050">
            <a:solidFill>
              <a:srgbClr val="1F3A2D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 flipV="1">
            <a:off x="10607040" y="5870448"/>
            <a:ext cx="182880" cy="210312"/>
          </a:xfrm>
          <a:prstGeom prst="line">
            <a:avLst/>
          </a:prstGeom>
          <a:noFill/>
          <a:ln w="19050">
            <a:solidFill>
              <a:srgbClr val="1F3A2D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0789920" y="5870448"/>
            <a:ext cx="182880" cy="210312"/>
          </a:xfrm>
          <a:prstGeom prst="line">
            <a:avLst/>
          </a:prstGeom>
          <a:noFill/>
          <a:ln w="19050">
            <a:solidFill>
              <a:srgbClr val="1F3A2D"/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>
            <a:off x="9875520" y="61081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3A2D"/>
                </a:solidFill>
              </a:rPr>
              <a:t>Dewan Pengawas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KBH STHM">
  <a:themeElements>
    <a:clrScheme name="LKBH STHM">
      <a:dk1>
        <a:srgbClr val="1F2A24"/>
      </a:dk1>
      <a:lt1>
        <a:srgbClr val="FFFFFF"/>
      </a:lt1>
      <a:dk2>
        <a:srgbClr val="1F3A2D"/>
      </a:dk2>
      <a:lt2>
        <a:srgbClr val="F1F5F2"/>
      </a:lt2>
      <a:accent1>
        <a:srgbClr val="1F3A2D"/>
      </a:accent1>
      <a:accent2>
        <a:srgbClr val="B8962E"/>
      </a:accent2>
      <a:accent3>
        <a:srgbClr val="2F5D46"/>
      </a:accent3>
      <a:accent4>
        <a:srgbClr val="6B2E73"/>
      </a:accent4>
      <a:accent5>
        <a:srgbClr val="8FA89A"/>
      </a:accent5>
      <a:accent6>
        <a:srgbClr val="D9E4DD"/>
      </a:accent6>
      <a:hlink>
        <a:srgbClr val="2F5D46"/>
      </a:hlink>
      <a:folHlink>
        <a:srgbClr val="5B6B62"/>
      </a:folHlink>
    </a:clrScheme>
    <a:fontScheme name="LKBH STHM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451</Words>
  <Application>Microsoft Office PowerPoint</Application>
  <PresentationFormat>Widescreen</PresentationFormat>
  <Paragraphs>115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LKBH STHM</vt:lpstr>
      <vt:lpstr>PowerPoint Presentation</vt:lpstr>
      <vt:lpstr>Tim Pengembang</vt:lpstr>
      <vt:lpstr>Mengapa Digitalisasi Penting</vt:lpstr>
      <vt:lpstr>Tampilan: Beranda dan Login</vt:lpstr>
      <vt:lpstr>Tampilan: Klien dan Kepala LKBH</vt:lpstr>
      <vt:lpstr>Tampilan: Sekretariat dan Bendahara</vt:lpstr>
      <vt:lpstr>Tampilan: Advokat dan Paralegal</vt:lpstr>
      <vt:lpstr>Tampilan: Dewan Pengawas</vt:lpstr>
      <vt:lpstr>Teknologi yang Digunakan</vt:lpstr>
      <vt:lpstr>Use Case Diagram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LKBH STHM</dc:title>
  <dc:subject>PptxGenJS Presentation</dc:subject>
  <dc:creator>PptxGenJS</dc:creator>
  <cp:lastModifiedBy>Muhammad Roihan</cp:lastModifiedBy>
  <cp:revision>1</cp:revision>
  <dcterms:created xsi:type="dcterms:W3CDTF">2026-10-27T06:52:38Z</dcterms:created>
  <dcterms:modified xsi:type="dcterms:W3CDTF">2026-10-27T07:18:56Z</dcterms:modified>
</cp:coreProperties>
</file>