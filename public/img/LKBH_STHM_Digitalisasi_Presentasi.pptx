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73152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94560" y="2697480"/>
            <a:ext cx="7802575" cy="502920"/>
          </a:xfrm>
          <a:prstGeom prst="roundRect">
            <a:avLst>
              <a:gd name="adj" fmla="val 18182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4560" y="2697480"/>
            <a:ext cx="78025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- SEKOLAH TINGGI HUKUM MILITER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333756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INFORMASI PELAYANAN BANTUAN HUKUM TERINTEGRASI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42519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TUGAS AKHIR - FAKULTAS SAINS DAN INFORMATIKA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JENDERAL ACHMAD YANI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5029200"/>
            <a:ext cx="9997135" cy="1234440"/>
          </a:xfrm>
          <a:prstGeom prst="roundRect">
            <a:avLst>
              <a:gd name="adj" fmla="val 740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7280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Sulthan Dhiyaul Barts H.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Business Analyst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596564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Aditya Maulana Ardiansyah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Backend Developer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095848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Muhammad Roihan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UI/UX Designer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595131" y="5166360"/>
            <a:ext cx="24992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Sayyid Ashhabussunan
</a:t>
            </a:r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</a:rPr>
              <a:t>Scrum Master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PENGEMBANG SISTEM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417320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417320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22960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Hasibuan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22960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005840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Menggali kebutuhan dan merumuskan alur bisnis serta SOP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465576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151376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51376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3557016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3557016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3739896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02736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API, basis data, dan keamanan sistem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199632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885432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5432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291072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Muhammad Roihan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6291072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Designer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473952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336792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Merancang antarmuka dan pengalaman pengguna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933688" y="1463040"/>
            <a:ext cx="2514600" cy="4663440"/>
          </a:xfrm>
          <a:prstGeom prst="roundRect">
            <a:avLst>
              <a:gd name="adj" fmla="val 3636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619488" y="1737360"/>
            <a:ext cx="1143000" cy="11430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619488" y="17373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9025128" y="30175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Sayyid Ashhabussunan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9025128" y="38862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Scrum Master</a:t>
            </a:r>
            <a:endParaRPr lang="en-US" sz="1250" dirty="0"/>
          </a:p>
        </p:txBody>
      </p:sp>
      <p:sp>
        <p:nvSpPr>
          <p:cNvPr id="34" name="Shape 31"/>
          <p:cNvSpPr/>
          <p:nvPr/>
        </p:nvSpPr>
        <p:spPr>
          <a:xfrm>
            <a:off x="9208008" y="4343400"/>
            <a:ext cx="196596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70848" y="45262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Mengatur sprint dan kolaborasi tim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VITAE — SULTHAN DHIYAUL BARTS HASIBUAN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481328"/>
            <a:ext cx="868680" cy="868680"/>
          </a:xfrm>
          <a:prstGeom prst="ellipse">
            <a:avLst/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813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7452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Sulthan Dhiyaul Barts Hasibuan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74520" y="1965960"/>
            <a:ext cx="1691640" cy="292608"/>
          </a:xfrm>
          <a:prstGeom prst="roundRect">
            <a:avLst>
              <a:gd name="adj" fmla="val 25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1965960"/>
            <a:ext cx="1691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4400" y="2468880"/>
            <a:ext cx="3383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5603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Pendidikan: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Teknik Informatika (Semester 6) • IPK 3.44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Jenderal Achmad Yani (UNJANI)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Domisili: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Kab. Bandung Barat, Jawa Barat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0812-8392-0912 | dhiyaulbarts@gmail.com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Tautan: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Antitesis08 | LinkedIn: Sulthan D. B. H.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Bahasa: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Indonesia (Native) | English (Mahir)
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4553712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EAEFE9"/>
          </a:solidFill>
          <a:ln w="2286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645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&amp; FOKUS KEAHLIAN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9194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 Teknik Informatika berdedikasi dengan keahlian utama dalam menganalisis proses bisnis bantuan hukum, perumusan spesifikasi sistem &amp; SOP 7 role pengguna, analisis data statistik, serta integrasi Artificial Intelligence (AI).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Fokus: 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Data • Proses Bisnis &amp; SOP • Solusi AI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325880"/>
            <a:ext cx="6796735" cy="1481328"/>
          </a:xfrm>
          <a:prstGeom prst="roundRect">
            <a:avLst>
              <a:gd name="adj" fmla="val 6173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417320"/>
            <a:ext cx="365760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ORGANISASI &amp; KEPEMIMPINAN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KM UNJANI (2025 - 2026)
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Kementerian Sosial dan Politik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Menangani koordinasi advokasi, relasi eksternal, dan aksi sosial kemahasiswaan.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4258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BEM KM FSI UNJANI (2025 - 2026)
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Departemen Kastrat &amp; Advokasi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Memimpin kajian isu strategis fakultas dan perumusan rekomendasi kebijakan.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7917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OSIS SMAN 4 Pematangsiantar (2021 - 2022)
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OSIS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Memimpin organisasi kesiswaan tingkat sekolah &amp; meraih sertifikat kepemimpinan.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2907792"/>
            <a:ext cx="6796735" cy="1920240"/>
          </a:xfrm>
          <a:prstGeom prst="roundRect">
            <a:avLst>
              <a:gd name="adj" fmla="val 4762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99923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PEMBUATAN PROYEK (PORTOFOLIO)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Digitalisasi LKBH STHM (2026)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Analyst: Menganalisis SOP-01 s/d SOP-06 AD/ART LKBH STHM, merumuskan alur 7 role pengguna, matriks hak akses, serta menyusun spesifikasi fungsional sistem bantuan hukum.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30388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Decision Support System (DSS)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rekomendasi AI menganalisis sentimen media sosial investor (web scraping &amp; NLP) untuk mendukung pengambilan keputusan bisnis strategis berbasis data.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PahamUang — Platform Konsultasi Finansial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web penjadwalan konsultasi keuangan terintegrasi 3 role (admin, konsultan, pelanggan) berbasis framework Laravel &amp; Vue dengan database relasional.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30388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SIMPEG — Sistem Informasi Kepegawaian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manajemen SDM instansi pemerintah; implementasi arsitektur MVC Laravel, perancangan database terintegrasi, dan pengelolaan arsip pegawai.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4919472"/>
            <a:ext cx="6796735" cy="1353312"/>
          </a:xfrm>
          <a:prstGeom prst="roundRect">
            <a:avLst>
              <a:gd name="adj" fmla="val 6757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501091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TEKNIS &amp; NON-TEKNIS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Teknis: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Python, SQL, Excel, Power BI, Docker, Laravel, PHP, MySQL, Git/GitHub, Langflow.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Non-Teknis: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Bisnis, Public Speaking, Kepemimpinan, Problem Solving, AI Prompting.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38160" y="5029200"/>
            <a:ext cx="0" cy="114300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0109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&amp; PELATIHAN RESMI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Agents, IBM Granite, Data Science Landscape, Getting Started with Data.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Rocket Tutor ID (2026):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 Data Analyst • 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Ousean (2025):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Analyst Camp B1.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VITAE — ADITYA MAULANA ARDIANSYAH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3749040" cy="3108960"/>
          </a:xfrm>
          <a:prstGeom prst="roundRect">
            <a:avLst>
              <a:gd name="adj" fmla="val 294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481328"/>
            <a:ext cx="868680" cy="868680"/>
          </a:xfrm>
          <a:prstGeom prst="ellipse">
            <a:avLst/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481328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874520" y="14630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Aditya Maulana Ardiansyah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874520" y="196596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196596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4400" y="2468880"/>
            <a:ext cx="3383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560320"/>
            <a:ext cx="33832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Pendidikan: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 Teknik Informatika (Semester 7) • IPK 3.19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Institusi: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Universitas Jenderal Achmad Yani (UNJANI)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Domisili: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Kab. Bandung Barat, Jawa Barat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Kontak: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0821-2724-4922 | adityamaulardi11@gmail.com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Tautan: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Hoshino-115 | LinkedIn: Aditya Maulana A.
</a:t>
            </a:r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Bahasa: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Bahasa Indonesia (Native) | English (Mahir)
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" y="4553712"/>
            <a:ext cx="3749040" cy="1719072"/>
          </a:xfrm>
          <a:prstGeom prst="roundRect">
            <a:avLst>
              <a:gd name="adj" fmla="val 5319"/>
            </a:avLst>
          </a:prstGeom>
          <a:solidFill>
            <a:srgbClr val="EAEFE9"/>
          </a:solidFill>
          <a:ln w="22860">
            <a:solidFill>
              <a:srgbClr val="B8860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464515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&amp; FOKUS KEAHLIAN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14400" y="49194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Mahasiswa Teknik Informatika dengan spesialisasi rekayasa backend, perancangan REST API, database relasional PostgreSQL &amp; Prisma ORM, arsitektur keamanan multi-lapis, maintenance hardware komputer, serta implementasi kecerdasan buatan (AI).</a:t>
            </a: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914400" y="5852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Fokus: 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Backend • PostgreSQL &amp; Prisma • Keamanan Sistem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663440" y="1325880"/>
            <a:ext cx="6796735" cy="1481328"/>
          </a:xfrm>
          <a:prstGeom prst="roundRect">
            <a:avLst>
              <a:gd name="adj" fmla="val 6173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800600" y="1417320"/>
            <a:ext cx="384048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1417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KERJA, MAGANG &amp; ORGANISASI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00600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 Pertamina Patra Niaga (2026)
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Magang — ETL Data Engineer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Membangun sistem extract, transform, &amp; load (ETL) otomatis untuk pengolahan data Excel.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944258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Alnis Notebook (2022)
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PKL — Hardware &amp; Network Maintenance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Pemeliharaan perangkat keras komputer, instalasi OS &amp; software, serta troubleshooting.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9087917" y="1755648"/>
            <a:ext cx="2052218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 KM Informatika UNJANI (2026 - 2027)
</a:t>
            </a:r>
            <a:pPr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Dept. Kajian Strategi &amp; Advokasi
</a:t>
            </a:r>
            <a:pPr indent="0" marL="0">
              <a:buNone/>
            </a:pPr>
            <a:r>
              <a:rPr lang="en-US" sz="8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kebijakan strategis akademik dan fasilitasi aspirasi mahasiswa informatika.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663440" y="2907792"/>
            <a:ext cx="6796735" cy="1920240"/>
          </a:xfrm>
          <a:prstGeom prst="roundRect">
            <a:avLst>
              <a:gd name="adj" fmla="val 4762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999232"/>
            <a:ext cx="3474720" cy="274320"/>
          </a:xfrm>
          <a:prstGeom prst="roundRect">
            <a:avLst>
              <a:gd name="adj" fmla="val 20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9992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PENGALAMAN PEMBUATAN PROYEK (PORTOFOLIO)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800600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 Digitalisasi LKBH STHM (2026)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Developer: Arsitektur REST API Next.js, skema relasional Prisma ORM, PostgreSQL, autentikasi Custom JWT 3 lapis, generator PDF surat dinas resmi, &amp; presigned upload S3.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8130388" y="3337560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Customer Review System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agen AI cerdas untuk klasifikasi ulasan pelanggan dan analisis sentimen otomatis berbasis machine learning/LLM.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00600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J-Stok — Sistem Gudang Terintegrasi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Aplikasi web inventaris logistik pergudangan terintegrasi database (Admin &amp; Pegawai) dengan Full Stack Laravel dan pola desain MVC.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8130388" y="4050792"/>
            <a:ext cx="319262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FinanceKu &amp; Data Transform Importer
</a:t>
            </a:r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 keuangan pribadi (Laravel &amp; React) serta aplikasi utility ETL otomatis untuk manipulasi dan impor dataset Excel skala besar.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63440" y="4919472"/>
            <a:ext cx="6796735" cy="1353312"/>
          </a:xfrm>
          <a:prstGeom prst="roundRect">
            <a:avLst>
              <a:gd name="adj" fmla="val 6757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5010912"/>
            <a:ext cx="3246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KEMAHIRAN TEKNIS &amp; NON-TEKNIS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Teknis: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Node.js, Next.js, PostgreSQL, Prisma, Python, SQL, Docker, Java, JS, Laravel, Git.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Non-Teknis: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Rekayasa Basis Data, Problem Solving, Keamanan Sistem, Adaptif, Hardware Maintenance.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38160" y="5029200"/>
            <a:ext cx="0" cy="114300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275320" y="5010912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SERTIFIKASI &amp; PELATIHAN RESMI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Unleashing the Power of AI Agents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Classifying Data Using IBM Granite
</a:t>
            </a:r>
            <a:pPr indent="0" marL="0">
              <a:buNone/>
            </a:pPr>
            <a:r>
              <a:rPr lang="en-US" sz="92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IBM SkillsBuild (2026): </a:t>
            </a:r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Science Landscape &amp; Getting Started With Data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 ORGANISASI LKBH STHM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4754880" cy="4937760"/>
          </a:xfrm>
          <a:prstGeom prst="roundRect">
            <a:avLst>
              <a:gd name="adj" fmla="val 1923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17320"/>
            <a:ext cx="4480560" cy="320040"/>
          </a:xfrm>
          <a:prstGeom prst="roundRect">
            <a:avLst>
              <a:gd name="adj" fmla="val 1714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4173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LAMPIRAN A RESMI: BAGAN STRUKTUR ORGANISASI</a:t>
            </a:r>
            <a:endParaRPr lang="en-US" sz="1050" dirty="0"/>
          </a:p>
        </p:txBody>
      </p:sp>
      <p:pic>
        <p:nvPicPr>
          <p:cNvPr id="11" name="Image 1" descr="C:\Penyimpanan utama\I H A N N\sthm\LBHSTHM\public\img\struktur_organisasi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" y="1828800"/>
            <a:ext cx="4297680" cy="4023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5943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Ditetapkan di Jakarta • Disahkan oleh Ketua Pembina Brigjen TNI R. Deltanto Sarwi Diatmiko, S.H., M.H.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5669280" y="1325880"/>
            <a:ext cx="5790895" cy="658368"/>
          </a:xfrm>
          <a:prstGeom prst="roundRect">
            <a:avLst>
              <a:gd name="adj" fmla="val 11111"/>
            </a:avLst>
          </a:prstGeom>
          <a:solidFill>
            <a:srgbClr val="1B381E"/>
          </a:solidFill>
          <a:ln w="22860">
            <a:solidFill>
              <a:srgbClr val="B8860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852160" y="1353312"/>
            <a:ext cx="542513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PENDAHULUAN: STRUKTUR ORGANISASI SEBAGAI DASAR ARSITEKTUR SISTEM
</a:t>
            </a:r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Bagan organisasi LKBH STHM menjadi landasan perancangan 7 role pengguna dan pembagian kewenangan alur perkara SOP-01 s/d SOP-06.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0" y="2066544"/>
            <a:ext cx="5790895" cy="1298448"/>
          </a:xfrm>
          <a:prstGeom prst="roundRect">
            <a:avLst>
              <a:gd name="adj" fmla="val 5634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06440" y="2139696"/>
            <a:ext cx="2926080" cy="256032"/>
          </a:xfrm>
          <a:prstGeom prst="roundRect">
            <a:avLst>
              <a:gd name="adj" fmla="val 21429"/>
            </a:avLst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806440" y="213969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TINGKAT PEMBINA &amp; PIMPINAN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52160" y="2432304"/>
            <a:ext cx="5425135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Ketua Pembina (Ketua STHM):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Penentu arah kebijakan umum lembaga &amp; pengesah Legal Opinion resmi.
</a:t>
            </a:r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Penasehat &amp; Pengawas: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Mengawasi kode etik, kepatuhan SOP perkara, serta akuntabilitas operasional.
</a:t>
            </a:r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Kepala LKBH STHM: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Penanggung jawab operasional, memimpin gelar perkara &amp; menerbitkan Surat Tugas advokat.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669280" y="3438144"/>
            <a:ext cx="5790895" cy="1234440"/>
          </a:xfrm>
          <a:prstGeom prst="roundRect">
            <a:avLst>
              <a:gd name="adj" fmla="val 5926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806440" y="3511296"/>
            <a:ext cx="3108960" cy="256032"/>
          </a:xfrm>
          <a:prstGeom prst="roundRect">
            <a:avLst>
              <a:gd name="adj" fmla="val 2142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806440" y="3511296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TINGKAT ADMINISTRASI &amp; KEUANGAN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5852160" y="3803904"/>
            <a:ext cx="5425135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Sekretaris: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Mengelola tata naskah dinas, verifikasi kelengkapan berkas perkara, &amp; register induk.
</a:t>
            </a:r>
            <a:pPr indent="0" marL="0">
              <a:buNone/>
            </a:pPr>
            <a:r>
              <a:rPr lang="en-US" sz="9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Bendahara: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kas operasional bantuan hukum, audit keuangan perkara, &amp; alokasi pro bono.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669280" y="4754880"/>
            <a:ext cx="5790895" cy="1508760"/>
          </a:xfrm>
          <a:prstGeom prst="roundRect">
            <a:avLst>
              <a:gd name="adj" fmla="val 4848"/>
            </a:avLst>
          </a:prstGeom>
          <a:solidFill>
            <a:srgbClr val="F4F6F3"/>
          </a:solidFill>
          <a:ln w="22860">
            <a:solidFill>
              <a:srgbClr val="1B381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806440" y="4828032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06440" y="4828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TINGKAT PELAKSANA TEKNIS &amp; ADVOKASI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5852160" y="5120640"/>
            <a:ext cx="542513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Divisi Litigasi &amp; Konsultan (Advokat): </a:t>
            </a:r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Pendampingan sidang di 4 peradilan (Militer, Umum, PTUN, Agama).
</a:t>
            </a:r>
            <a:pPr indent="0" marL="0">
              <a:buNone/>
            </a:pPr>
            <a:r>
              <a:rPr lang="en-US" sz="93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Divisi Non Litigasi: </a:t>
            </a:r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Konsultasi hukum, mediasi/negosiasi sengketa, legal opinion, serta pendaftaran HKI.
</a:t>
            </a:r>
            <a:pPr indent="0" marL="0">
              <a:buNone/>
            </a:pPr>
            <a:r>
              <a:rPr lang="en-US" sz="93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UPKH &amp; Kelompok Fungsional: </a:t>
            </a:r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Laboratorium klinik hukum perwira mahasiswa STHM &amp; tridharma LPPM.
</a:t>
            </a:r>
            <a:pPr indent="0" marL="0">
              <a:buNone/>
            </a:pPr>
            <a:r>
              <a:rPr lang="en-US" sz="93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Paralegal: </a:t>
            </a:r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Asistensi penyiapan berkas awal, cek bukti lapangan, &amp; pendampingan klien.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MENGAPA DIGITALISASI PENTING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10728655" cy="1143000"/>
          </a:xfrm>
          <a:prstGeom prst="roundRect">
            <a:avLst>
              <a:gd name="adj" fmla="val 8000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60120" y="1444752"/>
            <a:ext cx="914400" cy="914400"/>
          </a:xfrm>
          <a:prstGeom prst="ellipse">
            <a:avLst/>
          </a:prstGeom>
          <a:solidFill>
            <a:srgbClr val="1B381E"/>
          </a:solidFill>
          <a:ln w="31750">
            <a:solidFill>
              <a:srgbClr val="B8860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44475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103120" y="146304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SATU-SATUNYA LKBH STHM DI INDONESIA • WILAYAH LAYANAN SELURUH INDONESIA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03120" y="1874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Prajurit TNI, purnawirawan, keluarga besar TNI, dan masyarakat pencari keadilan tersebar di 38 provinsi di seluruh Nusantara.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2633472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14400" y="2816352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2816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691640" y="27706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Jangkauan Nasional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14400" y="3319272"/>
            <a:ext cx="21488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3456432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Pencari keadilan dari Aceh hingga Papua dapat mengajukan permohonan bantuan hukum secara online tanpa harus datang langsung ke Jakarta Timur.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65576" y="2633472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48456" y="2816352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48456" y="2816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425696" y="27706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Proses Baku &amp; Akuntabel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648456" y="3319272"/>
            <a:ext cx="21488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648456" y="3456432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SOP-01 s/d SOP-06 berjalan seragam, terdata secara digital, serta terdistribusi secara transparan ke seluruh penanggung jawab perkara.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6199632" y="2633472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382512" y="2816352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82512" y="2816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159752" y="27706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Arsip Aman &amp; Rahasia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382512" y="3319272"/>
            <a:ext cx="21488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82512" y="3456432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Dossier perkara tersimpan digital dengan enkripsi dan hak akses ketat sesuai dengan ketentuan SOP dan kode etik yang berlaku.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933688" y="2633472"/>
            <a:ext cx="2514600" cy="2834640"/>
          </a:xfrm>
          <a:prstGeom prst="roundRect">
            <a:avLst>
              <a:gd name="adj" fmla="val 2909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16568" y="2816352"/>
            <a:ext cx="64008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16568" y="28163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9893808" y="277063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Transparan &amp; Terukur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9116568" y="3319272"/>
            <a:ext cx="21488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116568" y="3456432"/>
            <a:ext cx="2148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 pencari keadilan memantau status perkembangan kasus secara mandiri dan real-time dari registrasi hingga putusan inkracht.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731520" y="5650992"/>
            <a:ext cx="10728655" cy="594360"/>
          </a:xfrm>
          <a:prstGeom prst="roundRect">
            <a:avLst>
              <a:gd name="adj" fmla="val 12308"/>
            </a:avLst>
          </a:prstGeom>
          <a:solidFill>
            <a:srgbClr val="EAEFE9"/>
          </a:solidFill>
          <a:ln w="22860">
            <a:solidFill>
              <a:srgbClr val="B886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14400" y="5687568"/>
            <a:ext cx="103628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Landasan Yuridis: ART Pasal 7 LKBH STHM membolehkan pendaftaran melalui kanal elektronik resmi, dan ART Pasal 2 mewajibkan pengarsipan dossier secara tertib dan digital.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ALUR PROSES PENANGANAN KASUS (7 TAHAPAN)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554480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Kasus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68680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Klien mengisi form online dan mengunggah dokumen bukti perkara / SKTM.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64408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3465576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02736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02736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288536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SEKRETARIS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602736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Verifikasi Berkas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602736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02736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Pemeriksaan keabsahan dokumen dan registrasi berkas di buku induk.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998464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199632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336792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36792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022592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LKBH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336792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Gelar Kasus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336792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36792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Bedah perkara, analisis yuridis, dan perumusan pokok permasalahan.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732520" y="2176272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8933688" y="1353312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70848" y="1490472"/>
            <a:ext cx="59436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070848" y="1490472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9756648" y="14904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KETUA STHM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9070848" y="1920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Legal Opinion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9070848" y="2313432"/>
            <a:ext cx="224028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9070848" y="2404872"/>
            <a:ext cx="22402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Pengkajian pimpinan dan penerbitan Legal Opinion resmi STHM.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31520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4400" y="3794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14400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1691640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KEPALA LKBH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914400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Penugasan Tim</a:t>
            </a:r>
            <a:endParaRPr lang="en-US" sz="1350" dirty="0"/>
          </a:p>
        </p:txBody>
      </p:sp>
      <p:sp>
        <p:nvSpPr>
          <p:cNvPr id="44" name="Shape 41"/>
          <p:cNvSpPr/>
          <p:nvPr/>
        </p:nvSpPr>
        <p:spPr>
          <a:xfrm>
            <a:off x="914400" y="4617720"/>
            <a:ext cx="30632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914400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Penerbitan Surat Perintah Tugas dan Surat Kuasa Khusus advokat.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4178808" y="4434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47" name="Shape 44"/>
          <p:cNvSpPr/>
          <p:nvPr/>
        </p:nvSpPr>
        <p:spPr>
          <a:xfrm>
            <a:off x="4379976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562856" y="3794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562856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340096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&amp; NON-LITIGASI</a:t>
            </a:r>
            <a:endParaRPr lang="en-US" sz="1150" dirty="0"/>
          </a:p>
        </p:txBody>
      </p:sp>
      <p:sp>
        <p:nvSpPr>
          <p:cNvPr id="51" name="Text 48"/>
          <p:cNvSpPr/>
          <p:nvPr/>
        </p:nvSpPr>
        <p:spPr>
          <a:xfrm>
            <a:off x="4562856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Penanganan Hukum</a:t>
            </a:r>
            <a:endParaRPr lang="en-US" sz="1350" dirty="0"/>
          </a:p>
        </p:txBody>
      </p:sp>
      <p:sp>
        <p:nvSpPr>
          <p:cNvPr id="52" name="Shape 49"/>
          <p:cNvSpPr/>
          <p:nvPr/>
        </p:nvSpPr>
        <p:spPr>
          <a:xfrm>
            <a:off x="4562856" y="4617720"/>
            <a:ext cx="30632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562856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Litigasi (Peradilan Militer, Umum, PTUN, Agama) &amp; Non-Litigasi (Mediasi/LO).</a:t>
            </a:r>
            <a:endParaRPr lang="en-US" sz="1150" dirty="0"/>
          </a:p>
        </p:txBody>
      </p:sp>
      <p:sp>
        <p:nvSpPr>
          <p:cNvPr id="54" name="Text 51"/>
          <p:cNvSpPr/>
          <p:nvPr/>
        </p:nvSpPr>
        <p:spPr>
          <a:xfrm>
            <a:off x="7827264" y="44348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2000" dirty="0"/>
          </a:p>
        </p:txBody>
      </p:sp>
      <p:sp>
        <p:nvSpPr>
          <p:cNvPr id="55" name="Shape 52"/>
          <p:cNvSpPr/>
          <p:nvPr/>
        </p:nvSpPr>
        <p:spPr>
          <a:xfrm>
            <a:off x="8028432" y="36576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211312" y="3794760"/>
            <a:ext cx="685800" cy="365760"/>
          </a:xfrm>
          <a:prstGeom prst="roundRect">
            <a:avLst>
              <a:gd name="adj" fmla="val 15000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8211312" y="379476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58" name="Text 55"/>
          <p:cNvSpPr/>
          <p:nvPr/>
        </p:nvSpPr>
        <p:spPr>
          <a:xfrm>
            <a:off x="8988552" y="37947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&amp; LPPM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8211312" y="422452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Penyelesaian &amp; Arsip LPPM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8211312" y="4617720"/>
            <a:ext cx="3063240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211312" y="470916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Penyerahan hasil advokasi, pengarsipan dossier inkracht, &amp; sinkronisasi LPPM.</a:t>
            </a:r>
            <a:endParaRPr lang="en-US" sz="1150" dirty="0"/>
          </a:p>
        </p:txBody>
      </p:sp>
      <p:sp>
        <p:nvSpPr>
          <p:cNvPr id="62" name="Shape 59"/>
          <p:cNvSpPr/>
          <p:nvPr/>
        </p:nvSpPr>
        <p:spPr>
          <a:xfrm>
            <a:off x="731520" y="5760720"/>
            <a:ext cx="10728655" cy="502920"/>
          </a:xfrm>
          <a:prstGeom prst="roundRect">
            <a:avLst>
              <a:gd name="adj" fmla="val 14545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31520" y="5760720"/>
            <a:ext cx="10728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PENGAJUAN  ➔  VERIFIKASI  ➔  GELAR KASUS  ➔  LEGAL OPINION  ➔  PENUGASAN  ➔  PENANGANAN  ➔  SELESAI &amp; LPPM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TEKNOLOGI YANG DIGUNAKAN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&amp; Next.js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63240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aplikasi web utama dan runtime server performa tinggi.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08776" y="146304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91656" y="164592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91656" y="16459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React.js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540496" y="160020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Pembangunan antarmuka pengguna interaktif dan responsif.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31520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14400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063240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native aplikasi Android untuk kemudahan akses mobile.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08776" y="265176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91656" y="283464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391656" y="28346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&amp; Prisma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540496" y="278892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relasional yang aman untuk menyimpan seluruh data perkara.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31520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4400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14400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063240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 komunikasi data yang menghubungkan web, mobile, dan server.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208776" y="384048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91656" y="402336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91656" y="40233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Laragon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8540496" y="397764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Lingkungan pengembangan lokal yang stabil dan cepat.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31520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14400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4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&amp; NGINX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3063240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Kontainerisasi aplikasi dan reverse proxy untuk performa server.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08776" y="5029200"/>
            <a:ext cx="5248656" cy="1051560"/>
          </a:xfrm>
          <a:prstGeom prst="roundRect">
            <a:avLst>
              <a:gd name="adj" fmla="val 6957"/>
            </a:avLst>
          </a:prstGeom>
          <a:solidFill>
            <a:srgbClr val="F4F6F3"/>
          </a:solidFill>
          <a:ln w="25400">
            <a:solidFill>
              <a:srgbClr val="1B381E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391656" y="52120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91656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&amp; MFA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8540496" y="5166360"/>
            <a:ext cx="27340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Keamanan jaringan anti-DDoS dan proteksi login ganda (MFA).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LANDING PAGE &amp; PORTAL LKBH STHM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RESMI LKBH STHM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landing pag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 LAYANAN BANTUAN HUKUM LKBH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portal LB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Tampilan halaman depan informasi resmi LKBH STHM dan portal akses menu konsultasi.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REGISTRASI &amp; ROLE CUSTOMER (KLIEN)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HALAMAN PENDAFTARAN / REGISTRASI KLIEN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egist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KLIEN (TRACKING STATUS KASUS)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custome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Formulir pendaftaran akun pencari keadilan dan dashboard pemantauan kasus secara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ADMIN &amp; ROLE KONSULTAN HUKUM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ADMINISTRATOR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ole adm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KONSULTAN (ADVOKAT)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konsulta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Admin mengelola verifikasi perkara dan penugasan; Konsultan/Advokat menangani perkara yang ditugaskan.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PARALEGAL &amp; ROLE PENGAWAS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PARALEGAL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ole paralega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PENGAWAS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pengawa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Paralegal membantu verifikasi berkas permohonan; Pengawas memonitor transparansi dan kepatuhan SOP.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MOCKUP: ROLE SEKRETARIS &amp; ROLE BENDAHARA</a:t>
            </a:r>
            <a:endParaRPr lang="en-US" sz="2400" dirty="0"/>
          </a:p>
        </p:txBody>
      </p:sp>
      <p:pic>
        <p:nvPicPr>
          <p:cNvPr id="5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09728"/>
            <a:ext cx="868680" cy="868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6400800"/>
            <a:ext cx="10728655" cy="0"/>
          </a:xfrm>
          <a:prstGeom prst="line">
            <a:avLst/>
          </a:prstGeom>
          <a:noFill/>
          <a:ln w="19050">
            <a:solidFill>
              <a:srgbClr val="334E3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LKBH STHM DITKUMAD • Platform Bantuan Hukum Digital Nasional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SEKRETARIS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85800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1" name="Image 1" descr="C:\Penyimpanan utama\I H A N N\sthm\LBHSTHM\public\ss an\role sekertari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1520" y="1783080"/>
            <a:ext cx="5248656" cy="39319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208776" y="1325880"/>
            <a:ext cx="5248656" cy="411480"/>
          </a:xfrm>
          <a:prstGeom prst="roundRect">
            <a:avLst>
              <a:gd name="adj" fmla="val 13333"/>
            </a:avLst>
          </a:prstGeom>
          <a:solidFill>
            <a:srgbClr val="1B381E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08776" y="1325880"/>
            <a:ext cx="524865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ROLE BENDAHARA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737360"/>
            <a:ext cx="5340096" cy="4023360"/>
          </a:xfrm>
          <a:prstGeom prst="rect">
            <a:avLst/>
          </a:prstGeom>
          <a:solidFill>
            <a:srgbClr val="F1F5F9"/>
          </a:solidFill>
          <a:ln w="25400">
            <a:solidFill>
              <a:srgbClr val="1B381E"/>
            </a:solidFill>
            <a:prstDash val="solid"/>
          </a:ln>
        </p:spPr>
      </p:sp>
      <p:pic>
        <p:nvPicPr>
          <p:cNvPr id="15" name="Image 2" descr="C:\Penyimpanan utama\I H A N N\sthm\LBHSTHM\public\ss an\role bendahara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08776" y="1783080"/>
            <a:ext cx="5248656" cy="3931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31520" y="58521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Keterangan: Sekretaris mengelola administrasi surat &amp; naskah dinas; Bendahara mencatat kas dan anggaran operasional.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1B381E"/>
          </a:solidFill>
          <a:ln w="12700">
            <a:solidFill>
              <a:srgbClr val="1B38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"/>
            <a:ext cx="12191695" cy="914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pic>
        <p:nvPicPr>
          <p:cNvPr id="4" name="Image 0" descr="C:\Penyimpanan utama\I H A N N\sthm\LBHSTHM\public\img\logo_LKBH-removebg-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990" y="822960"/>
            <a:ext cx="1828800" cy="1828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894990" y="2788920"/>
            <a:ext cx="6400800" cy="475488"/>
          </a:xfrm>
          <a:prstGeom prst="roundRect">
            <a:avLst>
              <a:gd name="adj" fmla="val 19231"/>
            </a:avLst>
          </a:prstGeom>
          <a:solidFill>
            <a:srgbClr val="1B381E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94990" y="2788920"/>
            <a:ext cx="6400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"VIYATA WIRA CASANA"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Menegakkan Hukum dan Keadilan Secara Bijaksana, Profesional, serta Tanpa Pamrih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31520" y="3703320"/>
            <a:ext cx="107286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B38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TERIMA KASIH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731520" y="4572000"/>
            <a:ext cx="107286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 TANYA JAWAB (Q &amp; A)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5074920"/>
            <a:ext cx="103628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Lembaga Konsultasi dan Bantuan Hukum Sekolah Tinggi Hukum Militer (LKBH STHM)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Direktorat Hukum Angkatan Darat (Ditkumad) • Jakarta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2026-10-28T17:00:38Z</dcterms:created>
  <dcterms:modified xsi:type="dcterms:W3CDTF">2026-10-28T17:00:38Z</dcterms:modified>
</cp:coreProperties>
</file>