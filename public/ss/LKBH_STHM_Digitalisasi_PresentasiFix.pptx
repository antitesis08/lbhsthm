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228" y="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3814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1F3A2D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1615092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990" y="73152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94560" y="2697480"/>
            <a:ext cx="7802575" cy="502920"/>
          </a:xfrm>
          <a:prstGeom prst="roundRect">
            <a:avLst>
              <a:gd name="adj" fmla="val 18182"/>
            </a:avLst>
          </a:prstGeom>
          <a:solidFill>
            <a:srgbClr val="1B381E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194560" y="2697480"/>
            <a:ext cx="7802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- SEKOLAH TINGGI HUKUM MILITER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333756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INFORMASI PELAYANAN BANTUAN HUKUM TERINTEGRASI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914400" y="4251960"/>
            <a:ext cx="10362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TUGAS AKHIR - FAKULTAS SAINS DAN INFORMATIKA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UNIVERSITAS JENDERAL ACHMAD YANI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97280" y="5029200"/>
            <a:ext cx="9997135" cy="1234440"/>
          </a:xfrm>
          <a:prstGeom prst="roundRect">
            <a:avLst>
              <a:gd name="adj" fmla="val 740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5166360"/>
            <a:ext cx="24992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Sulthan Dhiyaul Barts H.
</a:t>
            </a:r>
            <a:r>
              <a:rPr lang="en-US" sz="1100" b="1" dirty="0">
                <a:solidFill>
                  <a:srgbClr val="B8860B"/>
                </a:solidFill>
              </a:rPr>
              <a:t>Business Analyst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596564" y="5166360"/>
            <a:ext cx="24992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Aditya Maulana Ardiansyah
</a:t>
            </a:r>
            <a:r>
              <a:rPr lang="en-US" sz="1100" b="1" dirty="0">
                <a:solidFill>
                  <a:srgbClr val="B8860B"/>
                </a:solidFill>
              </a:rPr>
              <a:t>Backend Developer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095848" y="5166360"/>
            <a:ext cx="24992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Muhammad Roihan
</a:t>
            </a:r>
            <a:r>
              <a:rPr lang="en-US" sz="1100" b="1" dirty="0">
                <a:solidFill>
                  <a:srgbClr val="B8860B"/>
                </a:solidFill>
              </a:rPr>
              <a:t>UI/UX Designer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595131" y="5166360"/>
            <a:ext cx="24992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172A"/>
                </a:solidFill>
              </a:rPr>
              <a:t>Sayyid Ashhabussunan
</a:t>
            </a:r>
            <a:r>
              <a:rPr lang="en-US" sz="1100" b="1" dirty="0">
                <a:solidFill>
                  <a:srgbClr val="B8860B"/>
                </a:solidFill>
              </a:rPr>
              <a:t>Scrum Master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PENGEMBANG SISTEM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463040"/>
            <a:ext cx="2514600" cy="4663440"/>
          </a:xfrm>
          <a:prstGeom prst="roundRect">
            <a:avLst>
              <a:gd name="adj" fmla="val 3636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17320" y="1737360"/>
            <a:ext cx="1143000" cy="1143000"/>
          </a:xfrm>
          <a:prstGeom prst="ellipse">
            <a:avLst/>
          </a:prstGeom>
          <a:solidFill>
            <a:srgbClr val="1B381E"/>
          </a:solidFill>
          <a:ln w="31750">
            <a:solidFill>
              <a:srgbClr val="B886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417320" y="1737360"/>
            <a:ext cx="1143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22960" y="30175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Sulthan Dhiyaul Barts Hasibuan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22960" y="3886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005840" y="4343400"/>
            <a:ext cx="196596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5262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Menggali kebutuhan dan merumuskan alur bisnis serta SOP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465576" y="1463040"/>
            <a:ext cx="2514600" cy="4663440"/>
          </a:xfrm>
          <a:prstGeom prst="roundRect">
            <a:avLst>
              <a:gd name="adj" fmla="val 3636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51376" y="1737360"/>
            <a:ext cx="1143000" cy="1143000"/>
          </a:xfrm>
          <a:prstGeom prst="ellipse">
            <a:avLst/>
          </a:prstGeom>
          <a:solidFill>
            <a:srgbClr val="1B381E"/>
          </a:solidFill>
          <a:ln w="31750">
            <a:solidFill>
              <a:srgbClr val="B886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51376" y="1737360"/>
            <a:ext cx="1143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557016" y="30175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Maulana Ardiansyah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3557016" y="3886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Developer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739896" y="4343400"/>
            <a:ext cx="196596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02736" y="45262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Membangun API, basis data, dan keamanan sistem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199632" y="1463040"/>
            <a:ext cx="2514600" cy="4663440"/>
          </a:xfrm>
          <a:prstGeom prst="roundRect">
            <a:avLst>
              <a:gd name="adj" fmla="val 3636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85432" y="1737360"/>
            <a:ext cx="1143000" cy="1143000"/>
          </a:xfrm>
          <a:prstGeom prst="ellipse">
            <a:avLst/>
          </a:prstGeom>
          <a:solidFill>
            <a:srgbClr val="1B381E"/>
          </a:solidFill>
          <a:ln w="31750">
            <a:solidFill>
              <a:srgbClr val="B886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85432" y="1737360"/>
            <a:ext cx="1143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291072" y="30175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Muhammad Roihan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291072" y="3886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Designer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473952" y="4343400"/>
            <a:ext cx="196596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36792" y="45262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Merancang antarmuka dan pengalaman pengguna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933688" y="1463040"/>
            <a:ext cx="2514600" cy="4663440"/>
          </a:xfrm>
          <a:prstGeom prst="roundRect">
            <a:avLst>
              <a:gd name="adj" fmla="val 3636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619488" y="1737360"/>
            <a:ext cx="1143000" cy="1143000"/>
          </a:xfrm>
          <a:prstGeom prst="ellipse">
            <a:avLst/>
          </a:prstGeom>
          <a:solidFill>
            <a:srgbClr val="1B381E"/>
          </a:solidFill>
          <a:ln w="31750">
            <a:solidFill>
              <a:srgbClr val="B8860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19488" y="1737360"/>
            <a:ext cx="11430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9025128" y="30175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Sayyid Ashhabussunan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9025128" y="3886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Master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9208008" y="4343400"/>
            <a:ext cx="196596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070848" y="452628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Mengatur sprint dan kolaborasi tim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CURRICULUM VITAE — SULTHAN DHIYAUL BARTS HASIBUAN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25880"/>
            <a:ext cx="3749040" cy="3108960"/>
          </a:xfrm>
          <a:prstGeom prst="roundRect">
            <a:avLst>
              <a:gd name="adj" fmla="val 2941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1481328"/>
            <a:ext cx="868680" cy="868680"/>
          </a:xfrm>
          <a:prstGeom prst="ellipse">
            <a:avLst/>
          </a:prstGeom>
          <a:solidFill>
            <a:srgbClr val="1B381E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1481328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874520" y="1463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Sulthan Dhiyaul Barts Hasibuan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874520" y="1965960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19659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14400" y="2468880"/>
            <a:ext cx="33832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2560320"/>
            <a:ext cx="33832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Pendidikan: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Teknik Informatika (Semester 6) • IPK 3.44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Institusi: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Universitas Jenderal Achmad Yani (UNJANI)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Domisili: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Kab. Bandung Barat, Jawa Barat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0812-8392-0912 | dhiyaulbarts@gmail.com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Tautan: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Antitesis08 | LinkedIn: Sulthan D. B. H.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Kemahiran Bahasa: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Indonesia (Native) | English (Mahir)
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" y="4553712"/>
            <a:ext cx="3749040" cy="1719072"/>
          </a:xfrm>
          <a:prstGeom prst="roundRect">
            <a:avLst>
              <a:gd name="adj" fmla="val 5319"/>
            </a:avLst>
          </a:prstGeom>
          <a:solidFill>
            <a:srgbClr val="EAEFE9"/>
          </a:solidFill>
          <a:ln w="22860">
            <a:solidFill>
              <a:srgbClr val="B886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6451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&amp; FOKUS KEAHLIAN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" y="491947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Mahasiswa Teknik Informatika berdedikasi dengan keahlian utama dalam menganalisis proses bisnis bantuan hukum, perumusan spesifikasi sistem &amp; SOP 7 role pengguna, analisis data statistik, serta integrasi Artificial Intelligence (AI).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914400" y="5852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Fokus: 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Data • Proses Bisnis &amp; SOP • Solusi AI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663440" y="1325880"/>
            <a:ext cx="6796735" cy="1481328"/>
          </a:xfrm>
          <a:prstGeom prst="roundRect">
            <a:avLst>
              <a:gd name="adj" fmla="val 6173"/>
            </a:avLst>
          </a:prstGeom>
          <a:solidFill>
            <a:srgbClr val="F4F6F3"/>
          </a:solidFill>
          <a:ln w="22860">
            <a:solidFill>
              <a:srgbClr val="1B38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00600" y="1417320"/>
            <a:ext cx="3657600" cy="274320"/>
          </a:xfrm>
          <a:prstGeom prst="roundRect">
            <a:avLst>
              <a:gd name="adj" fmla="val 20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00600" y="1417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ORGANISASI &amp; KEPEMIMPINAN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800600" y="1755648"/>
            <a:ext cx="205221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BEM KM UNJANI (2025 - 2026)
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Kementerian Sosial dan Politik
</a:t>
            </a:r>
            <a:r>
              <a:rPr lang="en-US" sz="8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Menangani koordinasi advokasi, relasi eksternal, dan aksi sosial kemahasiswaan.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4258" y="1755648"/>
            <a:ext cx="205221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BEM KM FSI UNJANI (2025 - 2026)
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Kepala Departemen Kastrat &amp; Advokasi
</a:t>
            </a:r>
            <a:r>
              <a:rPr lang="en-US" sz="8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Memimpin kajian isu strategis fakultas dan perumusan rekomendasi kebijakan.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087917" y="1755648"/>
            <a:ext cx="205221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OSIS SMAN 4 Pematangsiantar (2021 - 2022)
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Ketua OSIS
</a:t>
            </a:r>
            <a:r>
              <a:rPr lang="en-US" sz="8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Memimpin organisasi kesiswaan tingkat sekolah &amp; meraih sertifikat kepemimpinan.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663440" y="2907792"/>
            <a:ext cx="6796735" cy="1920240"/>
          </a:xfrm>
          <a:prstGeom prst="roundRect">
            <a:avLst>
              <a:gd name="adj" fmla="val 4762"/>
            </a:avLst>
          </a:prstGeom>
          <a:solidFill>
            <a:srgbClr val="F4F6F3"/>
          </a:solidFill>
          <a:ln w="22860">
            <a:solidFill>
              <a:srgbClr val="1B381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800600" y="2999232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00600" y="29992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PEMBUATAN PROYEK (PORTOFOLIO)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800600" y="3337560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Digitalisasi LKBH STHM (2026)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Analyst: Menganalisis SOP-01 s/d SOP-06 AD/ART LKBH STHM, merumuskan alur 7 role pengguna, matriks hak akses, serta menyusun spesifikasi fungsional sistem bantuan hukum.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130388" y="3337560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Decision Support System (DSS)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rekomendasi AI menganalisis sentimen media sosial investor (web scraping &amp; NLP) untuk mendukung pengambilan keputusan bisnis strategis berbasis data.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800600" y="4050792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PahamUang — Platform Konsultasi Finansial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web penjadwalan konsultasi keuangan terintegrasi 3 role (admin, konsultan, pelanggan) berbasis framework Laravel &amp; Vue dengan database relasional.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130388" y="4050792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SIMPEG — Sistem Informasi Kepegawaian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manajemen SDM instansi pemerintah; implementasi arsitektur MVC Laravel, perancangan database terintegrasi, dan pengelolaan arsip pegawai.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663440" y="4919472"/>
            <a:ext cx="6796735" cy="1353312"/>
          </a:xfrm>
          <a:prstGeom prst="roundRect">
            <a:avLst>
              <a:gd name="adj" fmla="val 6757"/>
            </a:avLst>
          </a:prstGeom>
          <a:solidFill>
            <a:srgbClr val="F4F6F3"/>
          </a:solidFill>
          <a:ln w="22860">
            <a:solidFill>
              <a:srgbClr val="1B38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00600" y="501091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KEMAHIRAN TEKNIS &amp; NON-TEKNIS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Teknis: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Python, SQL, Excel, Power BI, Docker, Laravel, PHP, MySQL, Git/GitHub, Langflow.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Non-Teknis: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Bisnis, Public Speaking, Kepemimpinan, Problem Solving, AI Prompting.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138160" y="5029200"/>
            <a:ext cx="0" cy="114300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75320" y="5010912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SERTIFIKASI &amp; PELATIHAN RESMI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IBM SkillsBuild (2026):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Agents, IBM Granite, Data Science Landscape, Getting Started with Data.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Rocket Tutor ID (2026):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Stack Data Analyst • 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Ousean (2025):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 Camp B1.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CURRICULUM VITAE — ADITYA MAULANA ARDIANSYAH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25880"/>
            <a:ext cx="3749040" cy="3108960"/>
          </a:xfrm>
          <a:prstGeom prst="roundRect">
            <a:avLst>
              <a:gd name="adj" fmla="val 2941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1481328"/>
            <a:ext cx="868680" cy="868680"/>
          </a:xfrm>
          <a:prstGeom prst="ellipse">
            <a:avLst/>
          </a:prstGeom>
          <a:solidFill>
            <a:srgbClr val="1B381E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1481328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874520" y="1463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Maulana Ardiansyah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874520" y="1965960"/>
            <a:ext cx="1783080" cy="292608"/>
          </a:xfrm>
          <a:prstGeom prst="roundRect">
            <a:avLst>
              <a:gd name="adj" fmla="val 25000"/>
            </a:avLst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1965960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DEVELOPER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14400" y="2468880"/>
            <a:ext cx="33832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2560320"/>
            <a:ext cx="33832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Pendidikan: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Teknik Informatika (Semester 7) • IPK 3.19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Institusi: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Universitas Jenderal Achmad Yani (UNJANI)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Domisili: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Kab. Bandung Barat, Jawa Barat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0821-2724-4922 | adityamaulardi11@gmail.com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Tautan: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Hoshino-115 | LinkedIn: Aditya Maulana A.
</a:t>
            </a: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Kemahiran Bahasa: </a:t>
            </a: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Indonesia (Native) | English (Mahir)
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" y="4553712"/>
            <a:ext cx="3749040" cy="1719072"/>
          </a:xfrm>
          <a:prstGeom prst="roundRect">
            <a:avLst>
              <a:gd name="adj" fmla="val 5319"/>
            </a:avLst>
          </a:prstGeom>
          <a:solidFill>
            <a:srgbClr val="EAEFE9"/>
          </a:solidFill>
          <a:ln w="22860">
            <a:solidFill>
              <a:srgbClr val="B886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6451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&amp; FOKUS KEAHLIAN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14400" y="491947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Mahasiswa Teknik Informatika dengan spesialisasi rekayasa backend, perancangan REST API, database relasional PostgreSQL &amp; Prisma ORM, arsitektur keamanan multi-lapis, maintenance hardware komputer, serta implementasi kecerdasan buatan (AI).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914400" y="5852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Fokus: 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Rekayasa Backend • PostgreSQL &amp; Prisma • Keamanan Sistem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663440" y="1325880"/>
            <a:ext cx="6796735" cy="1481328"/>
          </a:xfrm>
          <a:prstGeom prst="roundRect">
            <a:avLst>
              <a:gd name="adj" fmla="val 6173"/>
            </a:avLst>
          </a:prstGeom>
          <a:solidFill>
            <a:srgbClr val="F4F6F3"/>
          </a:solidFill>
          <a:ln w="22860">
            <a:solidFill>
              <a:srgbClr val="1B38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00600" y="1417320"/>
            <a:ext cx="3840480" cy="274320"/>
          </a:xfrm>
          <a:prstGeom prst="roundRect">
            <a:avLst>
              <a:gd name="adj" fmla="val 20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00600" y="14173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KERJA, MAGANG &amp; ORGANISASI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800600" y="1755648"/>
            <a:ext cx="205221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Pertamina Patra Niaga (2026)
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Magang — ETL Data Engineer
</a:t>
            </a:r>
            <a:r>
              <a:rPr lang="en-US" sz="8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Membangun sistem extract, transform, &amp; load (ETL) otomatis untuk pengolahan data Excel.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4258" y="1755648"/>
            <a:ext cx="205221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Alnis Notebook (2022)
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PKL — Hardware &amp; Network Maintenance
</a:t>
            </a:r>
            <a:r>
              <a:rPr lang="en-US" sz="8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Pemeliharaan perangkat keras komputer, instalasi OS &amp; software, serta troubleshooting.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087917" y="1755648"/>
            <a:ext cx="2052218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 KM Informatika UNJANI (2026 - 2027)
</a:t>
            </a:r>
            <a:r>
              <a:rPr lang="en-US" sz="9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Dept. Kajian Strategi &amp; Advokasi
</a:t>
            </a:r>
            <a:r>
              <a:rPr lang="en-US" sz="8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Pengkajian kebijakan strategis akademik dan fasilitasi aspirasi mahasiswa informatika.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663440" y="2907792"/>
            <a:ext cx="6796735" cy="1920240"/>
          </a:xfrm>
          <a:prstGeom prst="roundRect">
            <a:avLst>
              <a:gd name="adj" fmla="val 4762"/>
            </a:avLst>
          </a:prstGeom>
          <a:solidFill>
            <a:srgbClr val="F4F6F3"/>
          </a:solidFill>
          <a:ln w="22860">
            <a:solidFill>
              <a:srgbClr val="1B381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800600" y="2999232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00600" y="29992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PEMBUATAN PROYEK (PORTOFOLIO)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800600" y="3337560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Digitalisasi LKBH STHM (2026)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Developer: Arsitektur REST API Next.js, skema relasional Prisma ORM, PostgreSQL, autentikasi Custom JWT 3 lapis, generator PDF surat dinas resmi, &amp; presigned upload S3.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130388" y="3337560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Customer Review System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Pengembangan agen AI cerdas untuk klasifikasi ulasan pelanggan dan analisis sentimen otomatis berbasis machine learning/LLM.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800600" y="4050792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J-Stok — Sistem Gudang Terintegrasi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web inventaris logistik pergudangan terintegrasi database (Admin &amp; Pegawai) dengan Full Stack Laravel dan pola desain MVC.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130388" y="4050792"/>
            <a:ext cx="319262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FinanceKu &amp; Data Transform Importer
</a:t>
            </a:r>
            <a:r>
              <a:rPr lang="en-US" sz="88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keuangan pribadi (Laravel &amp; React) serta aplikasi utility ETL otomatis untuk manipulasi dan impor dataset Excel skala besar.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663440" y="4919472"/>
            <a:ext cx="6796735" cy="1353312"/>
          </a:xfrm>
          <a:prstGeom prst="roundRect">
            <a:avLst>
              <a:gd name="adj" fmla="val 6757"/>
            </a:avLst>
          </a:prstGeom>
          <a:solidFill>
            <a:srgbClr val="F4F6F3"/>
          </a:solidFill>
          <a:ln w="22860">
            <a:solidFill>
              <a:srgbClr val="1B38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00600" y="5010912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KEMAHIRAN TEKNIS &amp; NON-TEKNIS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Teknis: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Node.js, Next.js, PostgreSQL, Prisma, Python, SQL, Docker, Java, JS, Laravel, Git.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Non-Teknis: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Rekayasa Basis Data, Problem Solving, Keamanan Sistem, Adaptif, Hardware Maintenance.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138160" y="5029200"/>
            <a:ext cx="0" cy="114300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75320" y="5010912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SERTIFIKASI &amp; PELATIHAN RESMI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IBM SkillsBuild (2026):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Unleashing the Power of AI Agents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IBM SkillsBuild (2026):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Classifying Data Using IBM Granite
</a:t>
            </a:r>
            <a:r>
              <a:rPr lang="en-US" sz="92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IBM SkillsBuild (2026): </a:t>
            </a:r>
            <a:r>
              <a:rPr lang="en-US" sz="92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Science Landscape &amp; Getting Started With Data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79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0520" y="-74295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STRUKTUR ORGANISASI LKBH STHM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8678" y="50292"/>
            <a:ext cx="530352" cy="5303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739415" y="783255"/>
            <a:ext cx="4480560" cy="320040"/>
          </a:xfrm>
          <a:prstGeom prst="roundRect">
            <a:avLst>
              <a:gd name="adj" fmla="val 1714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39415" y="783255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LAMPIRAN A RESMI: BAGAN STRUKTUR ORGANISASI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739415" y="58978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0DFDEBF-A5C4-DA48-DAAA-50D15383DB4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0149"/>
          <a:stretch>
            <a:fillRect/>
          </a:stretch>
        </p:blipFill>
        <p:spPr>
          <a:xfrm>
            <a:off x="3187496" y="1133429"/>
            <a:ext cx="5584398" cy="54880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463040"/>
            <a:ext cx="3931920" cy="4297680"/>
          </a:xfrm>
          <a:prstGeom prst="roundRect">
            <a:avLst>
              <a:gd name="adj" fmla="val 3488"/>
            </a:avLst>
          </a:prstGeom>
          <a:solidFill>
            <a:srgbClr val="1F3A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D9B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satu-satunya LKBH STHM di Indonesia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634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ADBD0"/>
                </a:solidFill>
              </a:rPr>
              <a:t>Wilayah layanan mencakup seluruh Indonesia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937760" y="1463040"/>
            <a:ext cx="640080" cy="640080"/>
          </a:xfrm>
          <a:prstGeom prst="ellipse">
            <a:avLst/>
          </a:prstGeom>
          <a:solidFill>
            <a:srgbClr val="F1F5F2"/>
          </a:solidFill>
          <a:ln w="12700">
            <a:solidFill>
              <a:srgbClr val="2F5D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5D46"/>
                </a:solidFill>
              </a:rPr>
              <a:t>01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1463040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2D"/>
                </a:solidFill>
              </a:rPr>
              <a:t>Jangkauan nasional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847088"/>
            <a:ext cx="5806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2"/>
                </a:solidFill>
              </a:rPr>
              <a:t>Pencari keadilan dari Aceh hingga Papua dapat mengajukan bantuan tanpa datang ke Jakarta Timur.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2542032"/>
            <a:ext cx="640080" cy="640080"/>
          </a:xfrm>
          <a:prstGeom prst="ellipse">
            <a:avLst/>
          </a:prstGeom>
          <a:solidFill>
            <a:srgbClr val="F1F5F2"/>
          </a:solidFill>
          <a:ln w="12700">
            <a:solidFill>
              <a:srgbClr val="2F5D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25420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5D46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2542032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2D"/>
                </a:solidFill>
              </a:rPr>
              <a:t>Proses baku dan akuntabel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2926080"/>
            <a:ext cx="5806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2"/>
                </a:solidFill>
              </a:rPr>
              <a:t>SOP-01 s/d SOP-06 berjalan seragam, </a:t>
            </a:r>
            <a:r>
              <a:rPr lang="en-US" sz="1400" dirty="0" err="1">
                <a:solidFill>
                  <a:srgbClr val="5B6B62"/>
                </a:solidFill>
              </a:rPr>
              <a:t>tercatat</a:t>
            </a:r>
            <a:r>
              <a:rPr lang="en-US" sz="1400" dirty="0">
                <a:solidFill>
                  <a:srgbClr val="5B6B62"/>
                </a:solidFill>
              </a:rPr>
              <a:t>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37760" y="3621024"/>
            <a:ext cx="640080" cy="640080"/>
          </a:xfrm>
          <a:prstGeom prst="ellipse">
            <a:avLst/>
          </a:prstGeom>
          <a:solidFill>
            <a:srgbClr val="F1F5F2"/>
          </a:solidFill>
          <a:ln w="12700">
            <a:solidFill>
              <a:srgbClr val="2F5D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37760" y="36210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5D46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621024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2D"/>
                </a:solidFill>
              </a:rPr>
              <a:t>Arsip aman dan rahasia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4005072"/>
            <a:ext cx="5806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2"/>
                </a:solidFill>
              </a:rPr>
              <a:t>Dossier perkara tersimpan digital dengan </a:t>
            </a:r>
            <a:r>
              <a:rPr lang="en-US" sz="1400" dirty="0" err="1">
                <a:solidFill>
                  <a:srgbClr val="5B6B62"/>
                </a:solidFill>
              </a:rPr>
              <a:t>akses</a:t>
            </a:r>
            <a:r>
              <a:rPr lang="en-US" sz="1400" dirty="0">
                <a:solidFill>
                  <a:srgbClr val="5B6B62"/>
                </a:solidFill>
              </a:rPr>
              <a:t> </a:t>
            </a:r>
            <a:r>
              <a:rPr lang="en-US" sz="1400" dirty="0" err="1">
                <a:solidFill>
                  <a:srgbClr val="5B6B62"/>
                </a:solidFill>
              </a:rPr>
              <a:t>sesuai</a:t>
            </a:r>
            <a:r>
              <a:rPr lang="en-US" sz="1400" dirty="0">
                <a:solidFill>
                  <a:srgbClr val="5B6B62"/>
                </a:solidFill>
              </a:rPr>
              <a:t> </a:t>
            </a:r>
            <a:r>
              <a:rPr lang="en-US" sz="1400" dirty="0" err="1">
                <a:solidFill>
                  <a:srgbClr val="5B6B62"/>
                </a:solidFill>
              </a:rPr>
              <a:t>dengan</a:t>
            </a:r>
            <a:r>
              <a:rPr lang="en-US" sz="1400" dirty="0">
                <a:solidFill>
                  <a:srgbClr val="5B6B62"/>
                </a:solidFill>
              </a:rPr>
              <a:t> </a:t>
            </a:r>
            <a:r>
              <a:rPr lang="en-US" sz="1400" dirty="0" err="1">
                <a:solidFill>
                  <a:srgbClr val="5B6B62"/>
                </a:solidFill>
              </a:rPr>
              <a:t>ketentuan</a:t>
            </a:r>
            <a:r>
              <a:rPr lang="en-US" sz="1400" dirty="0">
                <a:solidFill>
                  <a:srgbClr val="5B6B62"/>
                </a:solidFill>
              </a:rPr>
              <a:t> SOP yang </a:t>
            </a:r>
            <a:r>
              <a:rPr lang="en-US" sz="1400" dirty="0" err="1">
                <a:solidFill>
                  <a:srgbClr val="5B6B62"/>
                </a:solidFill>
              </a:rPr>
              <a:t>berlaku</a:t>
            </a:r>
            <a:r>
              <a:rPr lang="en-US" sz="1400" dirty="0">
                <a:solidFill>
                  <a:srgbClr val="5B6B6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937760" y="4700016"/>
            <a:ext cx="640080" cy="640080"/>
          </a:xfrm>
          <a:prstGeom prst="ellipse">
            <a:avLst/>
          </a:prstGeom>
          <a:solidFill>
            <a:srgbClr val="F1F5F2"/>
          </a:solidFill>
          <a:ln w="12700">
            <a:solidFill>
              <a:srgbClr val="2F5D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470001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5D46"/>
                </a:solidFill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4700016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A2D"/>
                </a:solidFill>
              </a:rPr>
              <a:t>Transparan dan terukur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5084064"/>
            <a:ext cx="5806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B62"/>
                </a:solidFill>
              </a:rPr>
              <a:t>Klien memantau status </a:t>
            </a:r>
            <a:r>
              <a:rPr lang="en-US" sz="1400" dirty="0" err="1">
                <a:solidFill>
                  <a:srgbClr val="5B6B62"/>
                </a:solidFill>
              </a:rPr>
              <a:t>kasus</a:t>
            </a:r>
            <a:r>
              <a:rPr lang="en-US" sz="1400" dirty="0">
                <a:solidFill>
                  <a:srgbClr val="5B6B62"/>
                </a:solidFill>
              </a:rPr>
              <a:t>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43591" y="6035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6B62"/>
                </a:solidFill>
              </a:rPr>
              <a:t>Dasar: ART Pasal 7 LKBH STHM membolehkan pendaftaran melalui kanal elektronik resmi, dan ART Pasal 2 mewajibkan pengarsipan dossier secara tertib dan digital.</a:t>
            </a:r>
            <a:endParaRPr lang="en-US" sz="12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F1BCF5B7-7106-4F3E-B1C5-D60406FA4B61}"/>
              </a:ext>
            </a:extLst>
          </p:cNvPr>
          <p:cNvSpPr/>
          <p:nvPr/>
        </p:nvSpPr>
        <p:spPr>
          <a:xfrm>
            <a:off x="305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5" name="Shape 1">
            <a:extLst>
              <a:ext uri="{FF2B5EF4-FFF2-40B4-BE49-F238E27FC236}">
                <a16:creationId xmlns:a16="http://schemas.microsoft.com/office/drawing/2014/main" id="{498C4CE5-70E1-48EA-82CE-51812284977B}"/>
              </a:ext>
            </a:extLst>
          </p:cNvPr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CF02DBE1-C96B-4043-A59A-915F3C27BE8D}"/>
              </a:ext>
            </a:extLst>
          </p:cNvPr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MENGAPA DIGITALISASI PENTING</a:t>
            </a:r>
            <a:endParaRPr lang="en-US" sz="2600" dirty="0"/>
          </a:p>
        </p:txBody>
      </p:sp>
      <p:pic>
        <p:nvPicPr>
          <p:cNvPr id="27" name="Image 0" descr="c:/sistem/LBHSTHM/public/img/logo_LKBH-removebg-preview.png">
            <a:extLst>
              <a:ext uri="{FF2B5EF4-FFF2-40B4-BE49-F238E27FC236}">
                <a16:creationId xmlns:a16="http://schemas.microsoft.com/office/drawing/2014/main" id="{3256E4D8-EAB4-4E8A-B304-ECDA20749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30" name="Shape 3">
            <a:extLst>
              <a:ext uri="{FF2B5EF4-FFF2-40B4-BE49-F238E27FC236}">
                <a16:creationId xmlns:a16="http://schemas.microsoft.com/office/drawing/2014/main" id="{CBCE8AA7-8AE1-4955-BCBB-70E121266ED5}"/>
              </a:ext>
            </a:extLst>
          </p:cNvPr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3703E3F1-7D4F-499B-96C7-1BBFCFED533E}"/>
              </a:ext>
            </a:extLst>
          </p:cNvPr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PROSES PENANGANAN KASUS (7 TAHAPAN)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53312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1490472"/>
            <a:ext cx="594360" cy="365760"/>
          </a:xfrm>
          <a:prstGeom prst="roundRect">
            <a:avLst>
              <a:gd name="adj" fmla="val 15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1490472"/>
            <a:ext cx="594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554480" y="149047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19202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Pengajuan Kasus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" y="2313432"/>
            <a:ext cx="22402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2404872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Klien mengisi form online dan mengunggah dokumen bukti perkara / SKTM.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264408" y="2176272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3465576" y="1353312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02736" y="1490472"/>
            <a:ext cx="594360" cy="365760"/>
          </a:xfrm>
          <a:prstGeom prst="roundRect">
            <a:avLst>
              <a:gd name="adj" fmla="val 15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02736" y="1490472"/>
            <a:ext cx="594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288536" y="149047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SEKRETARIS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02736" y="19202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Verifikasi Berkas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602736" y="2313432"/>
            <a:ext cx="22402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02736" y="2404872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Pemeriksaan keabsahan dokumen dan registrasi berkas di buku induk.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998464" y="2176272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199632" y="1353312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36792" y="1490472"/>
            <a:ext cx="594360" cy="365760"/>
          </a:xfrm>
          <a:prstGeom prst="roundRect">
            <a:avLst>
              <a:gd name="adj" fmla="val 15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36792" y="1490472"/>
            <a:ext cx="594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7022592" y="149047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LKBH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336792" y="19202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Gelar Kasus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336792" y="2313432"/>
            <a:ext cx="22402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36792" y="2404872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Bedah perkara, analisis yuridis, dan perumusan pokok permasalahan.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732520" y="2176272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933688" y="1353312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70848" y="1490472"/>
            <a:ext cx="594360" cy="365760"/>
          </a:xfrm>
          <a:prstGeom prst="roundRect">
            <a:avLst>
              <a:gd name="adj" fmla="val 15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070848" y="1490472"/>
            <a:ext cx="594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9756648" y="149047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KETUA STHM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9070848" y="19202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Penerbitan Legal Opinion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9070848" y="2313432"/>
            <a:ext cx="224028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070848" y="2404872"/>
            <a:ext cx="2240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Pengkajian pimpinan dan penerbitan Legal Opinion resmi STHM.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31520" y="365760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14400" y="3794760"/>
            <a:ext cx="685800" cy="365760"/>
          </a:xfrm>
          <a:prstGeom prst="roundRect">
            <a:avLst>
              <a:gd name="adj" fmla="val 15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14400" y="3794760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691640" y="3794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KEPALA LKBH</a:t>
            </a:r>
            <a:endParaRPr lang="en-US" sz="1150" dirty="0"/>
          </a:p>
        </p:txBody>
      </p:sp>
      <p:sp>
        <p:nvSpPr>
          <p:cNvPr id="43" name="Text 40"/>
          <p:cNvSpPr/>
          <p:nvPr/>
        </p:nvSpPr>
        <p:spPr>
          <a:xfrm>
            <a:off x="914400" y="422452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Penugasan Tim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914400" y="4617720"/>
            <a:ext cx="306324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14400" y="470916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Penerbitan Surat Perintah Tugas dan Surat Kuasa Khusus advokat.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178808" y="443484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4379976" y="365760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562856" y="3794760"/>
            <a:ext cx="685800" cy="365760"/>
          </a:xfrm>
          <a:prstGeom prst="roundRect">
            <a:avLst>
              <a:gd name="adj" fmla="val 15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562856" y="3794760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5340096" y="3794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LITIGASI &amp; NON-LITIGASI</a:t>
            </a:r>
            <a:endParaRPr lang="en-US" sz="1150" dirty="0"/>
          </a:p>
        </p:txBody>
      </p:sp>
      <p:sp>
        <p:nvSpPr>
          <p:cNvPr id="51" name="Text 48"/>
          <p:cNvSpPr/>
          <p:nvPr/>
        </p:nvSpPr>
        <p:spPr>
          <a:xfrm>
            <a:off x="4562856" y="422452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Penanganan Hukum</a:t>
            </a:r>
            <a:endParaRPr lang="en-US" sz="1350" dirty="0"/>
          </a:p>
        </p:txBody>
      </p:sp>
      <p:sp>
        <p:nvSpPr>
          <p:cNvPr id="52" name="Shape 49"/>
          <p:cNvSpPr/>
          <p:nvPr/>
        </p:nvSpPr>
        <p:spPr>
          <a:xfrm>
            <a:off x="4562856" y="4617720"/>
            <a:ext cx="306324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562856" y="470916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Litigasi (Peradilan Militer, Umum, PTUN, Agama) &amp; Non-Litigasi (Mediasi/LO).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7827264" y="443484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2000" dirty="0"/>
          </a:p>
        </p:txBody>
      </p:sp>
      <p:sp>
        <p:nvSpPr>
          <p:cNvPr id="55" name="Shape 52"/>
          <p:cNvSpPr/>
          <p:nvPr/>
        </p:nvSpPr>
        <p:spPr>
          <a:xfrm>
            <a:off x="8028432" y="365760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211312" y="3794760"/>
            <a:ext cx="685800" cy="365760"/>
          </a:xfrm>
          <a:prstGeom prst="roundRect">
            <a:avLst>
              <a:gd name="adj" fmla="val 15000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211312" y="3794760"/>
            <a:ext cx="685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8988552" y="3794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&amp; LPPM</a:t>
            </a:r>
            <a:endParaRPr lang="en-US" sz="1150" dirty="0"/>
          </a:p>
        </p:txBody>
      </p:sp>
      <p:sp>
        <p:nvSpPr>
          <p:cNvPr id="59" name="Text 56"/>
          <p:cNvSpPr/>
          <p:nvPr/>
        </p:nvSpPr>
        <p:spPr>
          <a:xfrm>
            <a:off x="8211312" y="422452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&amp; Arsip LPPM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11312" y="4617720"/>
            <a:ext cx="3063240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211312" y="470916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Penyerahan hasil advokasi, pengarsipan dossier inkracht, &amp; sinkronisasi LPPM.</a:t>
            </a:r>
            <a:endParaRPr lang="en-US" sz="1150" dirty="0"/>
          </a:p>
        </p:txBody>
      </p:sp>
      <p:sp>
        <p:nvSpPr>
          <p:cNvPr id="62" name="Shape 59"/>
          <p:cNvSpPr/>
          <p:nvPr/>
        </p:nvSpPr>
        <p:spPr>
          <a:xfrm>
            <a:off x="731520" y="5760720"/>
            <a:ext cx="10728655" cy="502920"/>
          </a:xfrm>
          <a:prstGeom prst="roundRect">
            <a:avLst>
              <a:gd name="adj" fmla="val 14545"/>
            </a:avLst>
          </a:prstGeom>
          <a:solidFill>
            <a:srgbClr val="1B381E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31520" y="576072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PENGAJUAN  ➔  VERIFIKASI  ➔  GELAR KASUS  ➔  LEGAL OPINION  ➔  PENUGASAN  ➔  PENANGANAN  ➔  SELESAI &amp; LPPM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TEKNOLOGI YANG DIGUNAKAN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46304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164592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16459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&amp; Next.js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63240" y="160020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aplikasi web utama dan runtime server performa tinggi.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08776" y="146304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91656" y="164592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91656" y="16459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React.js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540496" y="160020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Pembangunan antarmuka pengguna interaktif dan responsif.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31520" y="265176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283464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8346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Kotlin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063240" y="278892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Pengembangan native aplikasi Android untuk kemudahan akses mobile.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208776" y="265176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91656" y="283464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91656" y="28346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&amp; Prisma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540496" y="278892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relasional yang aman untuk menyimpan seluruh data perkara.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1520" y="384048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14400" y="402336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40233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063240" y="397764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komunikasi data yang menghubungkan web, mobile, dan server.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208776" y="384048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91656" y="402336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91656" y="40233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Laragon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540496" y="397764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Lingkungan pengembangan lokal yang stabil dan cepat.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31520" y="502920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14400" y="521208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4400" y="52120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NGINX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063240" y="516636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Kontainerisasi aplikasi dan reverse proxy untuk performa server.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208776" y="5029200"/>
            <a:ext cx="5248656" cy="1051560"/>
          </a:xfrm>
          <a:prstGeom prst="roundRect">
            <a:avLst>
              <a:gd name="adj" fmla="val 6957"/>
            </a:avLst>
          </a:prstGeom>
          <a:solidFill>
            <a:srgbClr val="F4F6F3"/>
          </a:solidFill>
          <a:ln w="25400">
            <a:solidFill>
              <a:srgbClr val="1B381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391656" y="5212080"/>
            <a:ext cx="2011680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391656" y="52120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&amp; MFA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8540496" y="5166360"/>
            <a:ext cx="27340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 jaringan anti-DDoS dan proteksi login ganda (MFA).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MOCKUP: LANDING PAGE &amp; PORTAL LKBH STHM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 RESMI LKBH STHM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1" name="Image 1" descr="C:\Penyimpanan utama\I H A N N\sthm\LBHSTHM\public\ss an\landing pag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248656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08776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08776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LAYANAN BANTUAN HUKUM LKBH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63056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5" name="Image 2" descr="C:\Penyimpanan utama\I H A N N\sthm\LBHSTHM\public\ss an\portal LBH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08776" y="1783080"/>
            <a:ext cx="5248656" cy="3931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Keterangan: Tampilan halaman depan informasi resmi LKBH STHM dan portal akses menu konsultasi.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MOCKUP: REGISTRASI &amp; ROLE CUSTOMER (KLIEN)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PENDAFTARAN / REGISTRASI KLIEN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1" name="Image 1" descr="C:\Penyimpanan utama\I H A N N\sthm\LBHSTHM\public\ss an\regis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248656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08776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08776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KLIEN (TRACKING STATUS KASUS)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63056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5" name="Image 2" descr="C:\Penyimpanan utama\I H A N N\sthm\LBHSTHM\public\ss an\role custom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08776" y="1783080"/>
            <a:ext cx="5248656" cy="3931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Keterangan: Formulir pendaftaran akun pencari keadilan dan dashboard pemantauan kasus secara real-time.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MOCKUP: ROLE ADMIN &amp; ROLE KONSULTAN HUKUM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ROLE ADMINISTRATOR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1" name="Image 1" descr="C:\Penyimpanan utama\I H A N N\sthm\LBHSTHM\public\ss an\role admi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248656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08776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08776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ROLE KONSULTAN (ADVOKAT)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63056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5" name="Image 2" descr="C:\Penyimpanan utama\I H A N N\sthm\LBHSTHM\public\ss an\role konsultan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08776" y="1783080"/>
            <a:ext cx="5248656" cy="3931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Keterangan: Admin mengelola verifikasi perkara dan penugasan; Konsultan/Advokat menangani perkara yang ditugaskan.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MOCKUP: ROLE PARALEGAL &amp; ROLE PENGAWAS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ROLE PARALEGAL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1" name="Image 1" descr="C:\Penyimpanan utama\I H A N N\sthm\LBHSTHM\public\ss an\role paralegal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248656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08776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08776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ROLE PENGAWAS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63056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5" name="Image 2" descr="C:\Penyimpanan utama\I H A N N\sthm\LBHSTHM\public\ss an\role pengawas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08776" y="1783080"/>
            <a:ext cx="5248656" cy="3931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Keterangan: Paralegal membantu verifikasi berkas permohonan; Pengawas memonitor transparansi dan kepatuhan SOP.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5156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"/>
            <a:ext cx="9601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MOCKUP: ROLE SEKRETARIS &amp; ROLE BENDAHARA</a:t>
            </a:r>
            <a:endParaRPr lang="en-US" sz="2400" dirty="0"/>
          </a:p>
        </p:txBody>
      </p:sp>
      <p:pic>
        <p:nvPicPr>
          <p:cNvPr id="5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09728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6400800"/>
            <a:ext cx="10728655" cy="0"/>
          </a:xfrm>
          <a:prstGeom prst="line">
            <a:avLst/>
          </a:prstGeom>
          <a:noFill/>
          <a:ln w="19050">
            <a:solidFill>
              <a:srgbClr val="334E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LKBH STHM DITKUMAD • Platform Bantuan Hukum Digital Nasional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ROLE SEKRETARIS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85800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1" name="Image 1" descr="C:\Penyimpanan utama\I H A N N\sthm\LBHSTHM\public\ss an\role sekertari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248656" cy="39319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08776" y="1325880"/>
            <a:ext cx="5248656" cy="411480"/>
          </a:xfrm>
          <a:prstGeom prst="roundRect">
            <a:avLst>
              <a:gd name="adj" fmla="val 13333"/>
            </a:avLst>
          </a:prstGeom>
          <a:solidFill>
            <a:srgbClr val="1B381E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08776" y="1325880"/>
            <a:ext cx="5248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ROLE BENDAHARA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63056" y="1737360"/>
            <a:ext cx="5340096" cy="4023360"/>
          </a:xfrm>
          <a:prstGeom prst="rect">
            <a:avLst/>
          </a:prstGeom>
          <a:solidFill>
            <a:srgbClr val="F1F5F9"/>
          </a:solidFill>
          <a:ln w="25400">
            <a:solidFill>
              <a:srgbClr val="1B381E"/>
            </a:solidFill>
            <a:prstDash val="solid"/>
          </a:ln>
        </p:spPr>
      </p:sp>
      <p:pic>
        <p:nvPicPr>
          <p:cNvPr id="15" name="Image 2" descr="C:\Penyimpanan utama\I H A N N\sthm\LBHSTHM\public\ss an\role bendahara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08776" y="1783080"/>
            <a:ext cx="5248656" cy="3931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31520" y="58521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Keterangan: Sekretaris mengelola administrasi surat &amp; naskah dinas; Bendahara mencatat kas dan anggaran operasional.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1B381E"/>
          </a:solidFill>
          <a:ln w="12700">
            <a:solidFill>
              <a:srgbClr val="1B38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74320"/>
            <a:ext cx="12191695" cy="9144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4" name="Image 0" descr="C:\Penyimpanan utama\I H A N N\sthm\LBHSTHM\public\img\logo_LKBH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990" y="82296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894990" y="2788920"/>
            <a:ext cx="6400800" cy="475488"/>
          </a:xfrm>
          <a:prstGeom prst="roundRect">
            <a:avLst>
              <a:gd name="adj" fmla="val 19231"/>
            </a:avLst>
          </a:prstGeom>
          <a:solidFill>
            <a:srgbClr val="1B381E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94990" y="2788920"/>
            <a:ext cx="6400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"VIYATA WIRA CASANA"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14400" y="333756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Menegakkan Hukum dan Keadilan Secara Bijaksana, Profesional, serta Tanpa Pamrih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703320"/>
            <a:ext cx="107286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B38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731520" y="4572000"/>
            <a:ext cx="10728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 TANYA JAWAB (Q &amp; A)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14400" y="5074920"/>
            <a:ext cx="103628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Lembaga Konsultasi dan Bantuan Hukum Sekolah Tinggi Hukum Militer (LKBH STHM)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Direktorat Hukum Angkatan Darat (Ditkumad) • Jakarta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1690</Words>
  <Application>Microsoft Office PowerPoint</Application>
  <PresentationFormat>Widescreen</PresentationFormat>
  <Paragraphs>185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Muhammad Roihan</cp:lastModifiedBy>
  <cp:revision>2</cp:revision>
  <dcterms:created xsi:type="dcterms:W3CDTF">2026-10-28T17:00:36Z</dcterms:created>
  <dcterms:modified xsi:type="dcterms:W3CDTF">2026-10-28T17:22:07Z</dcterms:modified>
</cp:coreProperties>
</file>