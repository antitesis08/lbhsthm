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8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F3A2D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61509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697480"/>
            <a:ext cx="7802575" cy="502920"/>
          </a:xfrm>
          <a:prstGeom prst="roundRect">
            <a:avLst>
              <a:gd name="adj" fmla="val 18182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4560" y="2697480"/>
            <a:ext cx="7802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- SEKOLAH TINGGI HUKUM MILITER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PELAYANAN BANTUAN HUKUM TERINTEGRASI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AKHIR - FAKULTAS SAINS DAN INFORMATIKA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5029200"/>
            <a:ext cx="9997135" cy="1234440"/>
          </a:xfrm>
          <a:prstGeom prst="roundRect">
            <a:avLst>
              <a:gd name="adj" fmla="val 740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Sulthan Dhiyaul Barts H.
</a:t>
            </a:r>
            <a:r>
              <a:rPr lang="en-US" sz="1100" b="1" dirty="0">
                <a:solidFill>
                  <a:srgbClr val="B8860B"/>
                </a:solidFill>
              </a:rPr>
              <a:t>Business Analyst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96564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Aditya Maulana Ardiansyah
</a:t>
            </a:r>
            <a:r>
              <a:rPr lang="en-US" sz="1100" b="1" dirty="0">
                <a:solidFill>
                  <a:srgbClr val="B8860B"/>
                </a:solidFill>
              </a:rPr>
              <a:t>Backend Developer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95848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Muhammad Roihan
</a:t>
            </a:r>
            <a:r>
              <a:rPr lang="en-US" sz="1100" b="1" dirty="0">
                <a:solidFill>
                  <a:srgbClr val="B8860B"/>
                </a:solidFill>
              </a:rPr>
              <a:t>UI/UX Designer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131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Sayyid Ashhabussunan
</a:t>
            </a:r>
            <a:r>
              <a:rPr lang="en-US" sz="1100" b="1" dirty="0">
                <a:solidFill>
                  <a:srgbClr val="B8860B"/>
                </a:solidFill>
              </a:rPr>
              <a:t>Scrum Master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SISTEM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Hasibuan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5840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Menggali kebutuhan dan merumuskan alur bisnis serta SOP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65576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51376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51376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57016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557016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739896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02736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API, basis data, dan keamanan sistem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99632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85432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5432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91072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Roihan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291072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73952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36792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antarmuka dan pengalaman pengguna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933688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19488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19488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025128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Ashhabussunan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9025128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208008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70848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Mengatur sprint dan kolaborasi tim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VITAE — SULTHAN DHIYAUL BARTS HASIBUAN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481328"/>
            <a:ext cx="868680" cy="868680"/>
          </a:xfrm>
          <a:prstGeom prst="ellipse">
            <a:avLst/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813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7452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Hasibuan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74520" y="19659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19659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3383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5603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Pendidikan: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Teknik Informatika (Semester 6) • IPK 3.44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 (UNJANI)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Domisili: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Kab. Bandung Barat, Jawa Barat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0812-8392-0912 | dhiyaulbarts@gmail.com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Tautan: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Antitesis08 | LinkedIn: Sulthan D. B. H.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Bahasa: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Indonesia (Native) | English (Mahir)
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4553712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EAEFE9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&amp; FOKUS KEAHLIAN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9194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Teknik Informatika berdedikasi dengan keahlian utama dalam menganalisis proses bisnis bantuan hukum, perumusan spesifikasi sistem &amp; SOP 7 role pengguna, analisis data statistik, serta integrasi Artificial Intelligence (AI).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Fokus: 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Data • Proses Bisnis &amp; SOP • Solusi AI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325880"/>
            <a:ext cx="6796735" cy="1481328"/>
          </a:xfrm>
          <a:prstGeom prst="roundRect">
            <a:avLst>
              <a:gd name="adj" fmla="val 6173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417320"/>
            <a:ext cx="365760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ORGANISASI &amp; KEPEMIMPINAN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KM UNJANI (2025 - 2026)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Kementerian Sosial dan Politik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Menangani koordinasi advokasi, relasi eksternal, dan aksi sosial kemahasiswaan.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4258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KM FSI UNJANI (2025 - 2026)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Departemen Kastrat &amp; Advokasi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Memimpin kajian isu strategis fakultas dan perumusan rekomendasi kebijakan.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7917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OSIS SMAN 4 Pematangsiantar (2021 - 2022)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OSIS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Memimpin organisasi kesiswaan tingkat sekolah &amp; meraih sertifikat kepemimpinan.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2907792"/>
            <a:ext cx="6796735" cy="1920240"/>
          </a:xfrm>
          <a:prstGeom prst="roundRect">
            <a:avLst>
              <a:gd name="adj" fmla="val 4762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99923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PEMBUATAN PROYEK (PORTOFOLIO)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Digitalisasi LKBH STHM (2026)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Analyst: Menganalisis SOP-01 s/d SOP-06 AD/ART LKBH STHM, merumuskan alur 7 role pengguna, matriks hak akses, serta menyusun spesifikasi fungsional sistem bantuan hukum.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0388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Decision Support System (DSS)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rekomendasi AI menganalisis sentimen media sosial investor (web scraping &amp; NLP) untuk mendukung pengambilan keputusan bisnis strategis berbasis data.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PahamUang — Platform Konsultasi Finansial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web penjadwalan konsultasi keuangan terintegrasi 3 role (admin, konsultan, pelanggan) berbasis framework Laravel &amp; Vue dengan database relasional.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30388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SIMPEG — Sistem Informasi Kepegawaian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manajemen SDM instansi pemerintah; implementasi arsitektur MVC Laravel, perancangan database terintegrasi, dan pengelolaan arsip pegawai.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4919472"/>
            <a:ext cx="6796735" cy="1353312"/>
          </a:xfrm>
          <a:prstGeom prst="roundRect">
            <a:avLst>
              <a:gd name="adj" fmla="val 6757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501091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TEKNIS &amp; NON-TEKNIS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Teknis: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SQL, Excel, Power BI, Docker, Laravel, PHP, MySQL, Git/GitHub, Langflow.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Non-Teknis: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Bisnis, Public Speaking, Kepemimpinan, Problem Solving, AI Prompting.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5029200"/>
            <a:ext cx="0" cy="114300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0109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&amp; PELATIHAN RESMI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Agents, IBM Granite, Data Science Landscape, Getting Started with Data.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Rocket Tutor ID (2026):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Data Analyst • 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Ousean (2025):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Camp B1.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VITAE — ADITYA MAULANA ARDIANSYAH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481328"/>
            <a:ext cx="868680" cy="868680"/>
          </a:xfrm>
          <a:prstGeom prst="ellipse">
            <a:avLst/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813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7452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74520" y="196596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3383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5603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Pendidikan: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Teknik Informatika (Semester 7) • IPK 3.19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 (UNJANI)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Domisili: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Kab. Bandung Barat, Jawa Barat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0821-2724-4922 | adityamaulardi11@gmail.com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Tautan: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Hoshino-115 | LinkedIn: Aditya Maulana A.
</a:t>
            </a: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Bahasa: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Indonesia (Native) | English (Mahir)
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4553712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EAEFE9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&amp; FOKUS KEAHLIAN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9194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Teknik Informatika dengan spesialisasi rekayasa backend, perancangan REST API, database relasional PostgreSQL &amp; Prisma ORM, arsitektur keamanan multi-lapis, maintenance hardware komputer, serta implementasi kecerdasan buatan (AI).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Fokus: 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Backend • PostgreSQL &amp; Prisma • Keamanan Sistem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325880"/>
            <a:ext cx="6796735" cy="1481328"/>
          </a:xfrm>
          <a:prstGeom prst="roundRect">
            <a:avLst>
              <a:gd name="adj" fmla="val 6173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41732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KERJA, MAGANG &amp; ORGANISASI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Pertamina Patra Niaga (2026)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Magang — ETL Data Engineer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sistem extract, transform, &amp; load (ETL) otomatis untuk pengolahan data Excel.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4258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Alnis Notebook (2022)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PKL — Hardware &amp; Network Maintenance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Pemeliharaan perangkat keras komputer, instalasi OS &amp; software, serta troubleshooting.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7917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 KM Informatika UNJANI (2026 - 2027)
</a:t>
            </a: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Dept. Kajian Strategi &amp; Advokasi
</a:t>
            </a: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kebijakan strategis akademik dan fasilitasi aspirasi mahasiswa informatika.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2907792"/>
            <a:ext cx="6796735" cy="1920240"/>
          </a:xfrm>
          <a:prstGeom prst="roundRect">
            <a:avLst>
              <a:gd name="adj" fmla="val 4762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99923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PEMBUATAN PROYEK (PORTOFOLIO)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Digitalisasi LKBH STHM (2026)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Developer: Arsitektur REST API Next.js, skema relasional Prisma ORM, PostgreSQL, autentikasi Custom JWT 3 lapis, generator PDF surat dinas resmi, &amp; presigned upload S3.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0388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Customer Review System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agen AI cerdas untuk klasifikasi ulasan pelanggan dan analisis sentimen otomatis berbasis machine learning/LLM.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J-Stok — Sistem Gudang Terintegrasi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web inventaris logistik pergudangan terintegrasi database (Admin &amp; Pegawai) dengan Full Stack Laravel dan pola desain MVC.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30388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FinanceKu &amp; Data Transform Importer
</a:t>
            </a: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keuangan pribadi (Laravel &amp; React) serta aplikasi utility ETL otomatis untuk manipulasi dan impor dataset Excel skala besar.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4919472"/>
            <a:ext cx="6796735" cy="1353312"/>
          </a:xfrm>
          <a:prstGeom prst="roundRect">
            <a:avLst>
              <a:gd name="adj" fmla="val 6757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501091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TEKNIS &amp; NON-TEKNIS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Teknis: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Next.js, PostgreSQL, Prisma, Python, SQL, Docker, Java, JS, Laravel, Git.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Non-Teknis: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Basis Data, Problem Solving, Keamanan Sistem, Adaptif, Hardware Maintenance.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5029200"/>
            <a:ext cx="0" cy="114300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0109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&amp; PELATIHAN RESMI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Unleashing the Power of AI Agents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Data Using IBM Granite
</a:t>
            </a: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Landscape &amp; Getting Started With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79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0520" y="-74295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ORGANISASI LKBH STHM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678" y="50292"/>
            <a:ext cx="530352" cy="530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39415" y="783255"/>
            <a:ext cx="4480560" cy="320040"/>
          </a:xfrm>
          <a:prstGeom prst="roundRect">
            <a:avLst>
              <a:gd name="adj" fmla="val 1714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39415" y="783255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LAMPIRAN A RESMI: BAGAN STRUKTUR ORGANISASI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39415" y="5897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DFDEBF-A5C4-DA48-DAAA-50D15383DB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149"/>
          <a:stretch>
            <a:fillRect/>
          </a:stretch>
        </p:blipFill>
        <p:spPr>
          <a:xfrm>
            <a:off x="3187496" y="1133429"/>
            <a:ext cx="5584398" cy="5488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46304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1F3A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D9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satu-satunya LKBH STHM di Indonesia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BD0"/>
                </a:solidFill>
              </a:rPr>
              <a:t>Wilayah layanan mencakup seluruh Indonesia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4630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Jangkauan nasional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84708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Pencari keadilan dari Aceh hingga Papua dapat mengajukan bantuan tanpa datang ke Jakarta Timur.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542032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54203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Proses baku dan akuntabel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92608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SOP-01 s/d SOP-06 berjalan seragam, </a:t>
            </a:r>
            <a:r>
              <a:rPr lang="en-US" sz="1400" dirty="0" err="1">
                <a:solidFill>
                  <a:srgbClr val="5B6B62"/>
                </a:solidFill>
              </a:rPr>
              <a:t>tercatat</a:t>
            </a:r>
            <a:r>
              <a:rPr lang="en-US" sz="1400" dirty="0">
                <a:solidFill>
                  <a:srgbClr val="5B6B62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621024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62102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Arsip aman dan rahasia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4005072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Dossier perkara tersimpan digital dengan </a:t>
            </a:r>
            <a:r>
              <a:rPr lang="en-US" sz="1400" dirty="0" err="1">
                <a:solidFill>
                  <a:srgbClr val="5B6B62"/>
                </a:solidFill>
              </a:rPr>
              <a:t>akses</a:t>
            </a:r>
            <a:r>
              <a:rPr lang="en-US" sz="1400" dirty="0">
                <a:solidFill>
                  <a:srgbClr val="5B6B62"/>
                </a:solidFill>
              </a:rPr>
              <a:t> </a:t>
            </a:r>
            <a:r>
              <a:rPr lang="en-US" sz="1400" dirty="0" err="1">
                <a:solidFill>
                  <a:srgbClr val="5B6B62"/>
                </a:solidFill>
              </a:rPr>
              <a:t>sesuai</a:t>
            </a:r>
            <a:r>
              <a:rPr lang="en-US" sz="1400" dirty="0">
                <a:solidFill>
                  <a:srgbClr val="5B6B62"/>
                </a:solidFill>
              </a:rPr>
              <a:t> </a:t>
            </a:r>
            <a:r>
              <a:rPr lang="en-US" sz="1400" dirty="0" err="1">
                <a:solidFill>
                  <a:srgbClr val="5B6B62"/>
                </a:solidFill>
              </a:rPr>
              <a:t>dengan</a:t>
            </a:r>
            <a:r>
              <a:rPr lang="en-US" sz="1400" dirty="0">
                <a:solidFill>
                  <a:srgbClr val="5B6B62"/>
                </a:solidFill>
              </a:rPr>
              <a:t> </a:t>
            </a:r>
            <a:r>
              <a:rPr lang="en-US" sz="1400" dirty="0" err="1">
                <a:solidFill>
                  <a:srgbClr val="5B6B62"/>
                </a:solidFill>
              </a:rPr>
              <a:t>ketentuan</a:t>
            </a:r>
            <a:r>
              <a:rPr lang="en-US" sz="1400" dirty="0">
                <a:solidFill>
                  <a:srgbClr val="5B6B62"/>
                </a:solidFill>
              </a:rPr>
              <a:t> SOP yang </a:t>
            </a:r>
            <a:r>
              <a:rPr lang="en-US" sz="1400" dirty="0" err="1">
                <a:solidFill>
                  <a:srgbClr val="5B6B62"/>
                </a:solidFill>
              </a:rPr>
              <a:t>berlaku</a:t>
            </a:r>
            <a:r>
              <a:rPr lang="en-US" sz="1400" dirty="0">
                <a:solidFill>
                  <a:srgbClr val="5B6B6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4700016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4700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70001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Transparan dan terukur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5084064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Klien memantau status </a:t>
            </a:r>
            <a:r>
              <a:rPr lang="en-US" sz="1400" dirty="0" err="1">
                <a:solidFill>
                  <a:srgbClr val="5B6B62"/>
                </a:solidFill>
              </a:rPr>
              <a:t>kasus</a:t>
            </a:r>
            <a:r>
              <a:rPr lang="en-US" sz="1400" dirty="0">
                <a:solidFill>
                  <a:srgbClr val="5B6B62"/>
                </a:solidFill>
              </a:rPr>
              <a:t>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43591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62"/>
                </a:solidFill>
              </a:rPr>
              <a:t>Dasar: ART Pasal 7 LKBH STHM membolehkan pendaftaran melalui kanal elektronik resmi, dan ART Pasal 2 mewajibkan pengarsipan dossier secara tertib dan digital.</a:t>
            </a:r>
            <a:endParaRPr lang="en-US" sz="12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F1BCF5B7-7106-4F3E-B1C5-D60406FA4B61}"/>
              </a:ext>
            </a:extLst>
          </p:cNvPr>
          <p:cNvSpPr/>
          <p:nvPr/>
        </p:nvSpPr>
        <p:spPr>
          <a:xfrm>
            <a:off x="305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498C4CE5-70E1-48EA-82CE-51812284977B}"/>
              </a:ext>
            </a:extLst>
          </p:cNvPr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CF02DBE1-C96B-4043-A59A-915F3C27BE8D}"/>
              </a:ext>
            </a:extLst>
          </p:cNvPr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MENGAPA DIGITALISASI PENTING</a:t>
            </a:r>
            <a:endParaRPr lang="en-US" sz="2600" dirty="0"/>
          </a:p>
        </p:txBody>
      </p:sp>
      <p:pic>
        <p:nvPicPr>
          <p:cNvPr id="27" name="Image 0" descr="c:/sistem/LBHSTHM/public/img/logo_LKBH-removebg-preview.png">
            <a:extLst>
              <a:ext uri="{FF2B5EF4-FFF2-40B4-BE49-F238E27FC236}">
                <a16:creationId xmlns:a16="http://schemas.microsoft.com/office/drawing/2014/main" id="{3256E4D8-EAB4-4E8A-B304-ECDA20749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30" name="Shape 3">
            <a:extLst>
              <a:ext uri="{FF2B5EF4-FFF2-40B4-BE49-F238E27FC236}">
                <a16:creationId xmlns:a16="http://schemas.microsoft.com/office/drawing/2014/main" id="{CBCE8AA7-8AE1-4955-BCBB-70E121266ED5}"/>
              </a:ext>
            </a:extLst>
          </p:cNvPr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3703E3F1-7D4F-499B-96C7-1BBFCFED533E}"/>
              </a:ext>
            </a:extLst>
          </p:cNvPr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PENANGANAN KASUS (7 TAHAPAN)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Kasus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mengisi form online dan mengunggah dokumen bukti perkara / SKTM.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4408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465576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02736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2736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88536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02736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Berkas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02736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keabsahan dokumen dan registrasi berkas di buku induk.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98464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99632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36792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022592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LKBH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36792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Kasus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36792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36792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Bedah perkara, analisis yuridis, dan perumusan pokok permasalahan.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732520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933688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70848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70848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756648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STHM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070848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Legal Opinion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070848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70848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pimpinan dan penerbitan Legal Opinion resmi STHM.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4400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6916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LKBH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914400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Tim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914400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440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Surat Perintah Tugas dan Surat Kuasa Khusus advokat.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178808" y="4434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4379976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62856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62856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340096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&amp; NON-LITIGASI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4562856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Hukum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4562856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62856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(Peradilan Militer, Umum, PTUN, Agama) &amp; Non-Litigasi (Mediasi/LO).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7827264" y="4434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55" name="Shape 52"/>
          <p:cNvSpPr/>
          <p:nvPr/>
        </p:nvSpPr>
        <p:spPr>
          <a:xfrm>
            <a:off x="8028432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11312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11312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988552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&amp; LPPM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8211312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&amp; Arsip LPPM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11312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211312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Penyerahan hasil advokasi, pengarsipan dossier inkracht, &amp; sinkronisasi LPPM.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731520" y="576072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 ➔  VERIFIKASI  ➔  GELAR KASUS  ➔  LEGAL OPINION  ➔  PENUGASAN  ➔  PENANGANAN  ➔  SELESAI &amp; LPPM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Next.js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aplikasi web utama dan runtime server performa tinggi.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8776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0496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antarmuka pengguna interaktif dan responsif.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63240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native aplikasi Android untuk kemudahan akses mobile.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08776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0496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relasional yang aman untuk menyimpan seluruh data perkara.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63240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komunikasi data yang menghubungkan web, mobile, dan server.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08776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91656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91656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Laragon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0496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lokal yang stabil dan cepat.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NGINX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Kontainerisasi aplikasi dan reverse proxy untuk performa server.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08776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MFA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40496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jaringan anti-DDoS dan proteksi login ganda (MFA).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LANDING PAGE &amp; PORTAL LKBH STHM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RESMI LKBH STHM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landing p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LAYANAN BANTUAN HUKUM LKBH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portal LBH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Tampilan halaman depan informasi resmi LKBH STHM dan portal akses menu konsultasi.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REGISTRASI &amp; ROLE CUSTOMER (KLIEN)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PENDAFTARAN / REGISTRASI KLIEN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egis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KLIEN (TRACKING STATUS KASUS)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custom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Formulir pendaftaran akun pencari keadilan dan dashboard pemantauan kasus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ADMIN &amp; ROLE KONSULTAN HUKUM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ADMINISTRATOR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adm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KONSULTAN (ADVOKAT)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konsulta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Admin mengelola verifikasi perkara dan penugasan; Konsultan/Advokat menangani perkara yang ditugaskan.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PARALEGAL &amp; ROLE PENGAWAS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PARALEGAL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paraleg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PENGAWAS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pengawa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Paralegal membantu verifikasi berkas permohonan; Pengawas memonitor transparansi dan kepatuhan SOP.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SEKRETARIS &amp; ROLE BENDAHARA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SEKRETARIS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sekertari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BENDAHARA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bendahar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Sekretaris mengelola administrasi surat &amp; naskah dinas; Bendahara mencatat kas dan anggaran operasional.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\Penyimpanan utama\I H A N N\sthm\LBHSTHM\public\img\logo_LKBH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94990" y="278892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94990" y="2788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"VIYATA WIRA CASANA"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Menegakkan Hukum dan Keadilan Secara Bijaksana, Profesional, serta Tanpa Pamrih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(Q &amp; A)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Sekolah Tinggi Hukum Militer (LKBH STHM)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 Hukum Angkatan Darat (Ditkumad) • Jakarta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1690</Words>
  <Application>Microsoft Office PowerPoint</Application>
  <PresentationFormat>Widescreen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Roihan</cp:lastModifiedBy>
  <cp:revision>2</cp:revision>
  <dcterms:created xsi:type="dcterms:W3CDTF">2026-10-28T17:00:36Z</dcterms:created>
  <dcterms:modified xsi:type="dcterms:W3CDTF">2026-10-28T17:11:15Z</dcterms:modified>
</cp:coreProperties>
</file>