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4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0990" y="73152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94560" y="2697480"/>
            <a:ext cx="7802575" cy="502920"/>
          </a:xfrm>
          <a:prstGeom prst="roundRect">
            <a:avLst>
              <a:gd name="adj" fmla="val 18182"/>
            </a:avLst>
          </a:prstGeom>
          <a:solidFill>
            <a:srgbClr val="1B381E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194560" y="2697480"/>
            <a:ext cx="78025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LEMBAGA KONSULTASI DAN BANTUAN HUKUM STHM (LKBH STHM)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1520" y="333756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DIGITALISASI LAYANAN LKBH STHM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914400" y="41605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 Layanan Bantuan Hukum Terpadu Menjangkau Seluruh Wilayah Indonesia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97280" y="4800600"/>
            <a:ext cx="9997135" cy="1463040"/>
          </a:xfrm>
          <a:prstGeom prst="roundRect">
            <a:avLst>
              <a:gd name="adj" fmla="val 6250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4892040"/>
            <a:ext cx="99971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PENGEMBANG: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97280" y="5257800"/>
            <a:ext cx="24992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Sayyid Ashhabussunan
</a:t>
            </a:r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</a:rPr>
              <a:t>Project Manager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596564" y="5257800"/>
            <a:ext cx="24992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Sulthan Dhiyaul Barts H.
</a:t>
            </a:r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</a:rPr>
              <a:t>Business Analyst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095848" y="5257800"/>
            <a:ext cx="24992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Aditya Maulana Ardiansyah
</a:t>
            </a:r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</a:rPr>
              <a:t>Backend Developer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595131" y="5257800"/>
            <a:ext cx="24992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Muhammad Roihan
</a:t>
            </a:r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</a:rPr>
              <a:t>UI/UX Designer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PENGEMBANG SISTEM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463040"/>
            <a:ext cx="2514600" cy="4663440"/>
          </a:xfrm>
          <a:prstGeom prst="roundRect">
            <a:avLst>
              <a:gd name="adj" fmla="val 3636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645920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21945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Sayyid Ashhabussunan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2971800"/>
            <a:ext cx="21488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315468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Memimpin koordinasi dan perencanaan proyek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Pengawasan timeline, target, dan rilis sistem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Penghubung utama pengembang dengan pihak STHM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465576" y="1463040"/>
            <a:ext cx="2514600" cy="4663440"/>
          </a:xfrm>
          <a:prstGeom prst="roundRect">
            <a:avLst>
              <a:gd name="adj" fmla="val 3636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02736" y="1645920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02736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ANALYST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557016" y="21945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Sulthan Dhiyaul Barts H.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648456" y="2971800"/>
            <a:ext cx="21488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02736" y="315468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Analisis proses bisnis bantuan hukum STHM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Perumusan kebutuhan fitur dan alur 7 role pengguna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Menyusun spesifikasi fungsional sistem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199632" y="1463040"/>
            <a:ext cx="2514600" cy="4663440"/>
          </a:xfrm>
          <a:prstGeom prst="roundRect">
            <a:avLst>
              <a:gd name="adj" fmla="val 3636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36792" y="1645920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36792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DEVELOPER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291072" y="21945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Maulana Ardiansyah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382512" y="2971800"/>
            <a:ext cx="21488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36792" y="315468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Membangun arsitektur server, REST API, dan database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Implementasi PostgreSQL, Prisma ORM, &amp; Custom JWT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Proteksi keamanan dan hak akses 3 lapis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933688" y="1463040"/>
            <a:ext cx="2514600" cy="4663440"/>
          </a:xfrm>
          <a:prstGeom prst="roundRect">
            <a:avLst>
              <a:gd name="adj" fmla="val 3636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070848" y="1645920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070848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DESIGNER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025128" y="21945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Roihan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9116568" y="2971800"/>
            <a:ext cx="21488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070848" y="315468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Perancangan antarmuka bertema hukum militer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Desain navigasi responsif (Top Navbar)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Prototyping tampilan dashboard untuk seluruh role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URGENSI DIGITALISASI LKBH STHM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10728655" cy="1325880"/>
          </a:xfrm>
          <a:prstGeom prst="roundRect">
            <a:avLst>
              <a:gd name="adj" fmla="val 6897"/>
            </a:avLst>
          </a:prstGeom>
          <a:solidFill>
            <a:srgbClr val="FFF5F5"/>
          </a:solidFill>
          <a:ln w="31750">
            <a:solidFill>
              <a:srgbClr val="C5303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5840" y="150876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FAKTA UTAMA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0" y="15087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HANYA ADA 1 DI INDONESIA (BERKEDUDUKAN DI JAKARTA)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05840" y="19659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Sementara prajurit TNI, purnawirawan, keluarga besar TNI, dan masyarakat pencari keadilan tersebar di 38 provinsi di seluruh Indonesia.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31520" y="2880360"/>
            <a:ext cx="3429000" cy="3337560"/>
          </a:xfrm>
          <a:prstGeom prst="roundRect">
            <a:avLst>
              <a:gd name="adj" fmla="val 2740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3081528"/>
            <a:ext cx="3063240" cy="594360"/>
          </a:xfrm>
          <a:prstGeom prst="roundRect">
            <a:avLst>
              <a:gd name="adj" fmla="val 12308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30815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Jangkauan Seluruh Indonesia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60120" y="384048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Menghapus kendala jarak fisik. Prajurit di pos perbatasan, daerah operasi, dan pulau terluar kini bisa berkonsultasi hukum langsung secara online tanpa harus datang ke Jakarta.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379976" y="2880360"/>
            <a:ext cx="3429000" cy="3337560"/>
          </a:xfrm>
          <a:prstGeom prst="roundRect">
            <a:avLst>
              <a:gd name="adj" fmla="val 2740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62856" y="3081528"/>
            <a:ext cx="3063240" cy="594360"/>
          </a:xfrm>
          <a:prstGeom prst="roundRect">
            <a:avLst>
              <a:gd name="adj" fmla="val 12308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62856" y="30815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Pelayanan 4 Lingkup Peradilan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608576" y="384048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Kekhususan hukum militer: melayani perkara di Peradilan Militer (Pidana &amp; Tata Usaha Militer), Peradilan Umum (Pidana/Perdata), PTUN, dan Peradilan Agama.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028432" y="2880360"/>
            <a:ext cx="3429000" cy="3337560"/>
          </a:xfrm>
          <a:prstGeom prst="roundRect">
            <a:avLst>
              <a:gd name="adj" fmla="val 2740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11312" y="3081528"/>
            <a:ext cx="3063240" cy="594360"/>
          </a:xfrm>
          <a:prstGeom prst="roundRect">
            <a:avLst>
              <a:gd name="adj" fmla="val 12308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11312" y="30815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Bantuan Pro Bono &amp; Berkas Dossier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257032" y="384048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Verifikasi syarat digital (KTP &amp; SKTM) secara transparan. Seluruh berkas perkara tersimpan aman dalam arsip digital (Dossier) yang terenkripsi dan terlindungi.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PROSES PENANGANAN KASUS (7 TAHAPAN)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53312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" y="1463040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14630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344168" y="1463040"/>
            <a:ext cx="1792224" cy="347472"/>
          </a:xfrm>
          <a:prstGeom prst="roundRect">
            <a:avLst>
              <a:gd name="adj" fmla="val 15789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44168" y="146304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KLIEN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22960" y="18562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Pengajuan Kasus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14400" y="2359152"/>
            <a:ext cx="21488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2432304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Klien mengisi form online dan mengunggah dokumen bukti perkara / SKTM.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246120" y="2130552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465576" y="1353312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575304" y="1463040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75304" y="14630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078224" y="1463040"/>
            <a:ext cx="1792224" cy="347472"/>
          </a:xfrm>
          <a:prstGeom prst="roundRect">
            <a:avLst>
              <a:gd name="adj" fmla="val 15789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78224" y="146304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SEKRETARIS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557016" y="18562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Verifikasi Berkas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3648456" y="2359152"/>
            <a:ext cx="21488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02736" y="2432304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Pemeriksaan keabsahan dokumen dan registrasi berkas di buku induk.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980176" y="2130552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199632" y="1353312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09360" y="1463040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09360" y="14630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812280" y="1463040"/>
            <a:ext cx="1792224" cy="347472"/>
          </a:xfrm>
          <a:prstGeom prst="roundRect">
            <a:avLst>
              <a:gd name="adj" fmla="val 15789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12280" y="146304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LKBH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291072" y="18562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Gelar Kasus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382512" y="2359152"/>
            <a:ext cx="21488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36792" y="2432304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Bedah perkara, analisis yuridis, dan perumusan pokok permasalahan.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8714232" y="2130552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8933688" y="1353312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043416" y="1463040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043416" y="14630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9546336" y="1463040"/>
            <a:ext cx="1792224" cy="347472"/>
          </a:xfrm>
          <a:prstGeom prst="roundRect">
            <a:avLst>
              <a:gd name="adj" fmla="val 15789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546336" y="146304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KETUA STHM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9025128" y="18562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Penerbitan Legal Opinion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9116568" y="2359152"/>
            <a:ext cx="21488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070848" y="2432304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Pengkajian pimpinan dan penerbitan Legal Opinion resmi STHM.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10972800" y="34930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731520" y="37033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68680" y="3813048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68680" y="38130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1417320" y="3813048"/>
            <a:ext cx="2606040" cy="347472"/>
          </a:xfrm>
          <a:prstGeom prst="roundRect">
            <a:avLst>
              <a:gd name="adj" fmla="val 15789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417320" y="38130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KEPALA LKBH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868680" y="4206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Penugasan Tim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960120" y="4709160"/>
            <a:ext cx="29718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14400" y="4782312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Penerbitan Surat Perintah Tugas dan Surat Kuasa Khusus advokat.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4160520" y="448056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4379976" y="37033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517136" y="3813048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517136" y="38130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5065776" y="3813048"/>
            <a:ext cx="2606040" cy="347472"/>
          </a:xfrm>
          <a:prstGeom prst="roundRect">
            <a:avLst>
              <a:gd name="adj" fmla="val 15789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065776" y="38130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LITIGASI &amp; NON-LITIGASI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4517136" y="4206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Penanganan Hukum</a:t>
            </a:r>
            <a:endParaRPr lang="en-US" sz="1300" dirty="0"/>
          </a:p>
        </p:txBody>
      </p:sp>
      <p:sp>
        <p:nvSpPr>
          <p:cNvPr id="59" name="Shape 56"/>
          <p:cNvSpPr/>
          <p:nvPr/>
        </p:nvSpPr>
        <p:spPr>
          <a:xfrm>
            <a:off x="4608576" y="4709160"/>
            <a:ext cx="29718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562856" y="4782312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Litigasi (Peradilan Militer, Umum, PTUN, Agama) &amp; Non-Litigasi (Mediasi/LO).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7808976" y="448056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8028432" y="37033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8165592" y="3813048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8165592" y="38130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65" name="Shape 62"/>
          <p:cNvSpPr/>
          <p:nvPr/>
        </p:nvSpPr>
        <p:spPr>
          <a:xfrm>
            <a:off x="8714232" y="3813048"/>
            <a:ext cx="2606040" cy="347472"/>
          </a:xfrm>
          <a:prstGeom prst="roundRect">
            <a:avLst>
              <a:gd name="adj" fmla="val 15789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714232" y="38130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&amp; LPPM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8165592" y="4206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Penyelesaian &amp; Arsip LPPM</a:t>
            </a:r>
            <a:endParaRPr lang="en-US" sz="1300" dirty="0"/>
          </a:p>
        </p:txBody>
      </p:sp>
      <p:sp>
        <p:nvSpPr>
          <p:cNvPr id="68" name="Shape 65"/>
          <p:cNvSpPr/>
          <p:nvPr/>
        </p:nvSpPr>
        <p:spPr>
          <a:xfrm>
            <a:off x="8257032" y="4709160"/>
            <a:ext cx="29718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8211312" y="4782312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Penyerahan hasil advokasi, pengarsipan dossier inkracht, &amp; sinkronisasi LPPM.</a:t>
            </a:r>
            <a:endParaRPr lang="en-US" sz="1050" dirty="0"/>
          </a:p>
        </p:txBody>
      </p:sp>
      <p:sp>
        <p:nvSpPr>
          <p:cNvPr id="70" name="Shape 67"/>
          <p:cNvSpPr/>
          <p:nvPr/>
        </p:nvSpPr>
        <p:spPr>
          <a:xfrm>
            <a:off x="731520" y="5989320"/>
            <a:ext cx="10728655" cy="411480"/>
          </a:xfrm>
          <a:prstGeom prst="roundRect">
            <a:avLst>
              <a:gd name="adj" fmla="val 13333"/>
            </a:avLst>
          </a:prstGeom>
          <a:solidFill>
            <a:srgbClr val="EAEFE9"/>
          </a:solidFill>
          <a:ln w="19050">
            <a:solidFill>
              <a:srgbClr val="1B381E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731520" y="598932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PENGAJUAN  ➔  VERIFIKASI  ➔  GELAR KASUS  ➔  LEGAL OPINION  ➔  PENUGASAN  ➔  PENANGANAN  ➔  SELESAI &amp; LPPM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YANG DIGUNAKAN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46304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164592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645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&amp; Next.js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63240" y="160020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aplikasi web utama dan runtime server performa tinggi.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08776" y="146304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91656" y="164592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91656" y="1645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540496" y="160020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Pembangunan antarmuka pengguna interaktif dan responsif.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31520" y="265176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14400" y="283464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2834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063240" y="278892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native aplikasi Android untuk kemudahan akses mobile.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08776" y="265176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91656" y="283464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91656" y="2834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&amp; Prisma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540496" y="278892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relasional yang aman untuk menyimpan seluruh data perkara.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31520" y="384048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14400" y="402336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4400" y="4023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063240" y="397764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 komunikasi data yang menghubungkan web, mobile, dan server.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208776" y="384048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91656" y="402336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91656" y="4023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Laragon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540496" y="397764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Lingkungan pengembangan lokal yang stabil dan cepat.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731520" y="502920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14400" y="521208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14400" y="5212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&amp; NGINX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063240" y="516636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Kontainerisasi aplikasi dan reverse proxy untuk performa server.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208776" y="502920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391656" y="521208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91656" y="5212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&amp; MFA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540496" y="516636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 jaringan anti-DDoS dan proteksi login ganda (MFA).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LANDING PAGE &amp; PORTAL LKBH STHM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RESMI LKBH STHM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1" name="Image 1" descr="c:/sistem/LBHSTHM/public/ss an/landing 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5157216" cy="38404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08776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LAYANAN BANTUAN HUKUM LKBH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08776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5" name="Image 2" descr="c:/sistem/LBHSTHM/public/ss an/portal LB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28800"/>
            <a:ext cx="5157216" cy="3840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Keterangan: Tampilan halaman depan informasi resmi LKBH STHM dan portal akses menu konsultasi.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REGISTRASI &amp; ROLE CUSTOMER (KLIEN)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PENDAFTARAN / REGISTRASI KLIEN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1" name="Image 1" descr="c:/sistem/LBHSTHM/public/ss an/regi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5157216" cy="38404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08776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KLIEN (TRACKING STATUS KASUS)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08776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5" name="Image 2" descr="c:/sistem/LBHSTHM/public/ss an/role custom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28800"/>
            <a:ext cx="5157216" cy="3840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Keterangan: Formulir pendaftaran akun pencari keadilan dan dashboard pemantauan kasus secara real-time.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ROLE ADMIN &amp; ROLE KONSULTAN HUKUM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ADMINISTRATOR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1" name="Image 1" descr="c:/sistem/LBHSTHM/public/ss an/role adm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5157216" cy="38404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08776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KONSULTAN (ADVOKAT)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08776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5" name="Image 2" descr="c:/sistem/LBHSTHM/public/ss an/role konsult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28800"/>
            <a:ext cx="5157216" cy="3840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Keterangan: Admin mengelola verifikasi perkara dan penugasan; Konsultan/Advokat menangani perkara yang ditugaskan.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ROLE PARALEGAL &amp; ROLE PENGAWAS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PARALEGAL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1" name="Image 1" descr="c:/sistem/LBHSTHM/public/ss an/role paraleg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5157216" cy="38404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08776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PENGAWAS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08776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5" name="Image 2" descr="c:/sistem/LBHSTHM/public/ss an/role pengaw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28800"/>
            <a:ext cx="5157216" cy="3840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Keterangan: Paralegal membantu verifikasi berkas permohonan; Pengawas memonitor transparansi dan kepatuhan SOP.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ROLE SEKRETARIS &amp; ROLE BENDAHARA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SEKRETARIS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1" name="Image 1" descr="c:/sistem/LBHSTHM/public/ss an/role sekertar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5157216" cy="38404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08776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BENDAHARA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08776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5" name="Image 2" descr="c:/sistem/LBHSTHM/public/ss an/role bendaha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28800"/>
            <a:ext cx="5157216" cy="3840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Keterangan: Sekretaris mengelola administrasi surat &amp; naskah dinas; Bendahara mencatat kas dan anggaran operasional.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4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0990" y="8229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894990" y="2788920"/>
            <a:ext cx="6400800" cy="475488"/>
          </a:xfrm>
          <a:prstGeom prst="roundRect">
            <a:avLst>
              <a:gd name="adj" fmla="val 19231"/>
            </a:avLst>
          </a:prstGeom>
          <a:solidFill>
            <a:srgbClr val="1B381E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94990" y="278892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"VIYATA WIRA CASANA"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333756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Menegakkan Hukum dan Keadilan Secara Bijaksana, Profesional, serta Tanpa Pamrih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70332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731520" y="457200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 TANYA JAWAB (Q &amp; A)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5074920"/>
            <a:ext cx="103628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Lembaga Konsultasi dan Bantuan Hukum Sekolah Tinggi Hukum Militer (LKBH STHM)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Direktorat Hukum Angkatan Darat (Ditkumad) • Jakarta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2026-10-27T09:09:09Z</dcterms:created>
  <dcterms:modified xsi:type="dcterms:W3CDTF">2026-10-27T09:09:09Z</dcterms:modified>
</cp:coreProperties>
</file>